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13"/>
    <p:sldId id="257" r:id="rId3"/>
    <p:sldId id="261" r:id="rId14"/>
    <p:sldId id="262" r:id="rId15"/>
    <p:sldId id="258" r:id="rId4"/>
    <p:sldId id="259" r:id="rId5"/>
    <p:sldId id="26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1BADCC-8D61-4838-B9C1-E27DF91B6ED5}" v="5" dt="2026-09-21T09:41:55.3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5" d="100"/>
          <a:sy n="55" d="100"/>
        </p:scale>
        <p:origin x="107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6/11/relationships/changesInfo" Target="changesInfos/changesInfo1.xml"/><Relationship Id="rId11" Type="http://schemas.microsoft.com/office/2015/10/relationships/revisionInfo" Target="revisionInfo.xml"/><Relationship Id="rId12" Type="http://schemas.openxmlformats.org/officeDocument/2006/relationships/notesMaster" Target="notesMasters/notesMaster1.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tihub 03" userId="b2a0e37053ecd74e" providerId="LiveId" clId="{E0B2F529-6E3C-4053-911F-F043B18F24F2}"/>
    <pc:docChg chg="addSld delSld modSld">
      <pc:chgData name="mtihub 03" userId="b2a0e37053ecd74e" providerId="LiveId" clId="{E0B2F529-6E3C-4053-911F-F043B18F24F2}" dt="2026-09-21T09:45:12.473" v="101" actId="108"/>
      <pc:docMkLst>
        <pc:docMk/>
      </pc:docMkLst>
      <pc:sldChg chg="modSp new mod">
        <pc:chgData name="mtihub 03" userId="b2a0e37053ecd74e" providerId="LiveId" clId="{E0B2F529-6E3C-4053-911F-F043B18F24F2}" dt="2026-09-21T09:45:12.473" v="101" actId="108"/>
        <pc:sldMkLst>
          <pc:docMk/>
          <pc:sldMk cId="2727883511" sldId="256"/>
        </pc:sldMkLst>
        <pc:spChg chg="mod">
          <ac:chgData name="mtihub 03" userId="b2a0e37053ecd74e" providerId="LiveId" clId="{E0B2F529-6E3C-4053-911F-F043B18F24F2}" dt="2026-09-21T09:45:05.640" v="100" actId="108"/>
          <ac:spMkLst>
            <pc:docMk/>
            <pc:sldMk cId="2727883511" sldId="256"/>
            <ac:spMk id="2" creationId="{26D08D52-5901-77A2-8685-E1A2338BFAE0}"/>
          </ac:spMkLst>
        </pc:spChg>
        <pc:spChg chg="mod">
          <ac:chgData name="mtihub 03" userId="b2a0e37053ecd74e" providerId="LiveId" clId="{E0B2F529-6E3C-4053-911F-F043B18F24F2}" dt="2026-09-21T09:45:12.473" v="101" actId="108"/>
          <ac:spMkLst>
            <pc:docMk/>
            <pc:sldMk cId="2727883511" sldId="256"/>
            <ac:spMk id="3" creationId="{7FF827F7-6CE2-1D98-54F4-7E04D97BB9EC}"/>
          </ac:spMkLst>
        </pc:spChg>
      </pc:sldChg>
      <pc:sldChg chg="modSp new mod">
        <pc:chgData name="mtihub 03" userId="b2a0e37053ecd74e" providerId="LiveId" clId="{E0B2F529-6E3C-4053-911F-F043B18F24F2}" dt="2026-09-21T09:44:48.533" v="99" actId="108"/>
        <pc:sldMkLst>
          <pc:docMk/>
          <pc:sldMk cId="4037555289" sldId="257"/>
        </pc:sldMkLst>
        <pc:spChg chg="mod">
          <ac:chgData name="mtihub 03" userId="b2a0e37053ecd74e" providerId="LiveId" clId="{E0B2F529-6E3C-4053-911F-F043B18F24F2}" dt="2026-09-21T09:44:48.533" v="99" actId="108"/>
          <ac:spMkLst>
            <pc:docMk/>
            <pc:sldMk cId="4037555289" sldId="257"/>
            <ac:spMk id="2" creationId="{9A7CFC8B-2019-DDA6-4935-5E297CDF38BD}"/>
          </ac:spMkLst>
        </pc:spChg>
        <pc:spChg chg="mod">
          <ac:chgData name="mtihub 03" userId="b2a0e37053ecd74e" providerId="LiveId" clId="{E0B2F529-6E3C-4053-911F-F043B18F24F2}" dt="2026-09-21T09:41:17.200" v="91"/>
          <ac:spMkLst>
            <pc:docMk/>
            <pc:sldMk cId="4037555289" sldId="257"/>
            <ac:spMk id="3" creationId="{D1D16EB4-AE9D-9544-345B-0E42EFF1C4BD}"/>
          </ac:spMkLst>
        </pc:spChg>
      </pc:sldChg>
      <pc:sldChg chg="modSp new">
        <pc:chgData name="mtihub 03" userId="b2a0e37053ecd74e" providerId="LiveId" clId="{E0B2F529-6E3C-4053-911F-F043B18F24F2}" dt="2026-09-21T09:41:33.753" v="93"/>
        <pc:sldMkLst>
          <pc:docMk/>
          <pc:sldMk cId="2001526492" sldId="258"/>
        </pc:sldMkLst>
        <pc:spChg chg="mod">
          <ac:chgData name="mtihub 03" userId="b2a0e37053ecd74e" providerId="LiveId" clId="{E0B2F529-6E3C-4053-911F-F043B18F24F2}" dt="2026-09-21T09:41:26.500" v="92"/>
          <ac:spMkLst>
            <pc:docMk/>
            <pc:sldMk cId="2001526492" sldId="258"/>
            <ac:spMk id="2" creationId="{19805C93-41B5-C754-81DB-EE8531563F52}"/>
          </ac:spMkLst>
        </pc:spChg>
        <pc:spChg chg="mod">
          <ac:chgData name="mtihub 03" userId="b2a0e37053ecd74e" providerId="LiveId" clId="{E0B2F529-6E3C-4053-911F-F043B18F24F2}" dt="2026-09-21T09:41:33.753" v="93"/>
          <ac:spMkLst>
            <pc:docMk/>
            <pc:sldMk cId="2001526492" sldId="258"/>
            <ac:spMk id="3" creationId="{16919D3D-A049-B84E-67AC-AB57DA70FA5A}"/>
          </ac:spMkLst>
        </pc:spChg>
      </pc:sldChg>
      <pc:sldChg chg="modSp new">
        <pc:chgData name="mtihub 03" userId="b2a0e37053ecd74e" providerId="LiveId" clId="{E0B2F529-6E3C-4053-911F-F043B18F24F2}" dt="2026-09-21T09:41:55.362" v="95"/>
        <pc:sldMkLst>
          <pc:docMk/>
          <pc:sldMk cId="1038637909" sldId="259"/>
        </pc:sldMkLst>
        <pc:spChg chg="mod">
          <ac:chgData name="mtihub 03" userId="b2a0e37053ecd74e" providerId="LiveId" clId="{E0B2F529-6E3C-4053-911F-F043B18F24F2}" dt="2026-09-21T09:41:48.500" v="94"/>
          <ac:spMkLst>
            <pc:docMk/>
            <pc:sldMk cId="1038637909" sldId="259"/>
            <ac:spMk id="2" creationId="{BDCFBAE4-0E08-D233-F60D-E3B0C084E919}"/>
          </ac:spMkLst>
        </pc:spChg>
        <pc:spChg chg="mod">
          <ac:chgData name="mtihub 03" userId="b2a0e37053ecd74e" providerId="LiveId" clId="{E0B2F529-6E3C-4053-911F-F043B18F24F2}" dt="2026-09-21T09:41:55.362" v="95"/>
          <ac:spMkLst>
            <pc:docMk/>
            <pc:sldMk cId="1038637909" sldId="259"/>
            <ac:spMk id="3" creationId="{22D7BEFE-A24B-7950-82BF-7B506A5F3535}"/>
          </ac:spMkLst>
        </pc:spChg>
      </pc:sldChg>
      <pc:sldChg chg="new del">
        <pc:chgData name="mtihub 03" userId="b2a0e37053ecd74e" providerId="LiveId" clId="{E0B2F529-6E3C-4053-911F-F043B18F24F2}" dt="2026-09-21T09:44:12.529" v="96" actId="47"/>
        <pc:sldMkLst>
          <pc:docMk/>
          <pc:sldMk cId="3957539232" sldId="260"/>
        </pc:sldMkLst>
      </pc:sldChg>
      <pc:sldChg chg="new del">
        <pc:chgData name="mtihub 03" userId="b2a0e37053ecd74e" providerId="LiveId" clId="{E0B2F529-6E3C-4053-911F-F043B18F24F2}" dt="2026-09-21T09:44:12.529" v="96" actId="47"/>
        <pc:sldMkLst>
          <pc:docMk/>
          <pc:sldMk cId="4233997241" sldId="261"/>
        </pc:sldMkLst>
      </pc:sldChg>
      <pc:sldChg chg="new del">
        <pc:chgData name="mtihub 03" userId="b2a0e37053ecd74e" providerId="LiveId" clId="{E0B2F529-6E3C-4053-911F-F043B18F24F2}" dt="2026-09-21T09:44:12.529" v="96" actId="47"/>
        <pc:sldMkLst>
          <pc:docMk/>
          <pc:sldMk cId="981240059" sldId="2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[0:00–0:20] We are team ___. We took Problem Statement 8, the One-Stop Digital Tourist Guide, because it contains the others: discovery, AI planning, language, homestays, food and events. Our answer is OneStop Manipur, and it is live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[0:20–0:55] A first-time visitor has no single place to discover, plan, book and get help. Planning is generic. Meiteilon is poorly served by translation apps. Homestays and guides are hard to find and harder to book. So visitors cluster in a few places and the Department cannot see the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[0:55–1:35] OneStop Manipur is one platform with four doors: tourists, local partners, creators and the Department. They are not four apps with one logo — a destination, a booking or a feedback item is the same record everywhere, so a tourist's feedback shows up on the Department's dashboard seconds later.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[1:35–2:15] Here is how it maps to the statements. Discovery and maps. An AI planner that returns costed options using real local partners. A Manipuri interpreter. Bookable homestays with UPI payment. Taste of Manipur with dishes and food trails. An events calendar with ticketing. And the one-stop layer: heritage, shopping, emergency help and feedback. All on web, phone and Android.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[2:15–2:55] Three things make this different. First, a closed loop. Second, trust: every figure carries its source, and the AI is never allowed to produce a number — we compute it, the AI only explains it. Third, it is local: plans use verified Manipur hosts at their own prices, and the interpreter is built for Meiteilon and refuses rather than guesses.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[2:55–3:45] The stack is Next.js and TypeScript on MySQL, with a phone app and an Android build on the same server. The important design choice is in the intelligence layer: deterministic analytics compute every figure, and the language model — Gemini, Claude or OpenAI — only writes the explanation. If it slips in a number that isn't in the evidence, we discard it. MapLibre with road routing for maps, Razorpay for UPI, and a speech pipeline for the interpreter. Over 360 automated tests, and the whole demo runs offline.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[3:45–4:35] Impact. Tourists get a personal, bookable trip with help and language support built in. Local homestays, guides and artisans get direct bookings and payment. Creators get paid campaigns grounded in verified facts. And the Department gets a live picture that lets it promote quieter destinations like Ukhrul and Shirui with evidence — spreading visitors and income across the state.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[4:35–5:00] It is live now on web, phone and Android. In the next 90 days we would connect the Meiteilon speech models with native speakers checking them, onboard hosts in two pilot districts, and connect official Department data. OneStop Manipur — one stop for everyone in Manipur's tourism.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48EFE-1D3F-F84D-F089-95B314F05E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668E8BA-8BCD-678B-92FF-18E49689CE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90FD65E-BAD4-E8E4-A35D-15AACE70F6A1}"/>
              </a:ext>
            </a:extLst>
          </p:cNvPr>
          <p:cNvSpPr>
            <a:spLocks noGrp="1"/>
          </p:cNvSpPr>
          <p:nvPr>
            <p:ph type="dt" sz="half" idx="10"/>
          </p:nvPr>
        </p:nvSpPr>
        <p:spPr/>
        <p:txBody>
          <a:bodyPr/>
          <a:lstStyle/>
          <a:p>
            <a:fld id="{23BE98A5-0DB8-40EF-9273-1C52098616B9}" type="datetimeFigureOut">
              <a:rPr lang="en-IN" smtClean="0"/>
              <a:t>21-09-2026</a:t>
            </a:fld>
            <a:endParaRPr lang="en-IN"/>
          </a:p>
        </p:txBody>
      </p:sp>
      <p:sp>
        <p:nvSpPr>
          <p:cNvPr id="5" name="Footer Placeholder 4">
            <a:extLst>
              <a:ext uri="{FF2B5EF4-FFF2-40B4-BE49-F238E27FC236}">
                <a16:creationId xmlns:a16="http://schemas.microsoft.com/office/drawing/2014/main" id="{8C6E43CE-D765-6B4E-22C4-29D667368E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85DA7F-D889-8528-F948-EB040E98B4DE}"/>
              </a:ext>
            </a:extLst>
          </p:cNvPr>
          <p:cNvSpPr>
            <a:spLocks noGrp="1"/>
          </p:cNvSpPr>
          <p:nvPr>
            <p:ph type="sldNum" sz="quarter" idx="12"/>
          </p:nvPr>
        </p:nvSpPr>
        <p:spPr/>
        <p:txBody>
          <a:bodyPr/>
          <a:lstStyle/>
          <a:p>
            <a:fld id="{F779790C-3A4A-468A-92D2-42C783BEF0C4}" type="slidenum">
              <a:rPr lang="en-IN" smtClean="0"/>
              <a:t>‹#›</a:t>
            </a:fld>
            <a:endParaRPr lang="en-IN"/>
          </a:p>
        </p:txBody>
      </p:sp>
    </p:spTree>
    <p:extLst>
      <p:ext uri="{BB962C8B-B14F-4D97-AF65-F5344CB8AC3E}">
        <p14:creationId xmlns:p14="http://schemas.microsoft.com/office/powerpoint/2010/main" val="3280721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AD4B6-8044-9AC8-8C1C-DA81F192DA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707958E-FF68-2C8A-8356-5883C50C68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3E8A5C-B29A-4947-F1C6-6842898BE105}"/>
              </a:ext>
            </a:extLst>
          </p:cNvPr>
          <p:cNvSpPr>
            <a:spLocks noGrp="1"/>
          </p:cNvSpPr>
          <p:nvPr>
            <p:ph type="dt" sz="half" idx="10"/>
          </p:nvPr>
        </p:nvSpPr>
        <p:spPr/>
        <p:txBody>
          <a:bodyPr/>
          <a:lstStyle/>
          <a:p>
            <a:fld id="{23BE98A5-0DB8-40EF-9273-1C52098616B9}" type="datetimeFigureOut">
              <a:rPr lang="en-IN" smtClean="0"/>
              <a:t>21-09-2026</a:t>
            </a:fld>
            <a:endParaRPr lang="en-IN"/>
          </a:p>
        </p:txBody>
      </p:sp>
      <p:sp>
        <p:nvSpPr>
          <p:cNvPr id="5" name="Footer Placeholder 4">
            <a:extLst>
              <a:ext uri="{FF2B5EF4-FFF2-40B4-BE49-F238E27FC236}">
                <a16:creationId xmlns:a16="http://schemas.microsoft.com/office/drawing/2014/main" id="{FCE87AC1-D186-A983-5BBE-40EBAA3DA4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287B7B-E486-5AB2-08E5-5F0C4A19E5BF}"/>
              </a:ext>
            </a:extLst>
          </p:cNvPr>
          <p:cNvSpPr>
            <a:spLocks noGrp="1"/>
          </p:cNvSpPr>
          <p:nvPr>
            <p:ph type="sldNum" sz="quarter" idx="12"/>
          </p:nvPr>
        </p:nvSpPr>
        <p:spPr/>
        <p:txBody>
          <a:bodyPr/>
          <a:lstStyle/>
          <a:p>
            <a:fld id="{F779790C-3A4A-468A-92D2-42C783BEF0C4}" type="slidenum">
              <a:rPr lang="en-IN" smtClean="0"/>
              <a:t>‹#›</a:t>
            </a:fld>
            <a:endParaRPr lang="en-IN"/>
          </a:p>
        </p:txBody>
      </p:sp>
    </p:spTree>
    <p:extLst>
      <p:ext uri="{BB962C8B-B14F-4D97-AF65-F5344CB8AC3E}">
        <p14:creationId xmlns:p14="http://schemas.microsoft.com/office/powerpoint/2010/main" val="2963294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74A9D-8AC4-F323-5809-8E3C89D8FA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115A2E5-9BC4-3F26-C2B4-3CA330218B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9851F6-E7CE-B7EE-A273-9B0D7B9E9F3B}"/>
              </a:ext>
            </a:extLst>
          </p:cNvPr>
          <p:cNvSpPr>
            <a:spLocks noGrp="1"/>
          </p:cNvSpPr>
          <p:nvPr>
            <p:ph type="dt" sz="half" idx="10"/>
          </p:nvPr>
        </p:nvSpPr>
        <p:spPr/>
        <p:txBody>
          <a:bodyPr/>
          <a:lstStyle/>
          <a:p>
            <a:fld id="{23BE98A5-0DB8-40EF-9273-1C52098616B9}" type="datetimeFigureOut">
              <a:rPr lang="en-IN" smtClean="0"/>
              <a:t>21-09-2026</a:t>
            </a:fld>
            <a:endParaRPr lang="en-IN"/>
          </a:p>
        </p:txBody>
      </p:sp>
      <p:sp>
        <p:nvSpPr>
          <p:cNvPr id="5" name="Footer Placeholder 4">
            <a:extLst>
              <a:ext uri="{FF2B5EF4-FFF2-40B4-BE49-F238E27FC236}">
                <a16:creationId xmlns:a16="http://schemas.microsoft.com/office/drawing/2014/main" id="{4FE8A169-11F8-C09E-0703-6BB1DA02E2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DD133B-BAC7-FEBE-F059-ADF26B506ED5}"/>
              </a:ext>
            </a:extLst>
          </p:cNvPr>
          <p:cNvSpPr>
            <a:spLocks noGrp="1"/>
          </p:cNvSpPr>
          <p:nvPr>
            <p:ph type="sldNum" sz="quarter" idx="12"/>
          </p:nvPr>
        </p:nvSpPr>
        <p:spPr/>
        <p:txBody>
          <a:bodyPr/>
          <a:lstStyle/>
          <a:p>
            <a:fld id="{F779790C-3A4A-468A-92D2-42C783BEF0C4}" type="slidenum">
              <a:rPr lang="en-IN" smtClean="0"/>
              <a:t>‹#›</a:t>
            </a:fld>
            <a:endParaRPr lang="en-IN"/>
          </a:p>
        </p:txBody>
      </p:sp>
    </p:spTree>
    <p:extLst>
      <p:ext uri="{BB962C8B-B14F-4D97-AF65-F5344CB8AC3E}">
        <p14:creationId xmlns:p14="http://schemas.microsoft.com/office/powerpoint/2010/main" val="1902645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059AF-9C0B-1FF5-0AA1-39532478E2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4268A0-FF88-4247-DD68-14FE82922A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E40A187-610E-0D9D-303A-0DD5A6C2D7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A48010F-C6BA-2B4E-4534-BD051D164BCA}"/>
              </a:ext>
            </a:extLst>
          </p:cNvPr>
          <p:cNvSpPr>
            <a:spLocks noGrp="1"/>
          </p:cNvSpPr>
          <p:nvPr>
            <p:ph type="dt" sz="half" idx="10"/>
          </p:nvPr>
        </p:nvSpPr>
        <p:spPr/>
        <p:txBody>
          <a:bodyPr/>
          <a:lstStyle/>
          <a:p>
            <a:fld id="{23BE98A5-0DB8-40EF-9273-1C52098616B9}" type="datetimeFigureOut">
              <a:rPr lang="en-IN" smtClean="0"/>
              <a:t>21-09-2026</a:t>
            </a:fld>
            <a:endParaRPr lang="en-IN"/>
          </a:p>
        </p:txBody>
      </p:sp>
      <p:sp>
        <p:nvSpPr>
          <p:cNvPr id="6" name="Footer Placeholder 5">
            <a:extLst>
              <a:ext uri="{FF2B5EF4-FFF2-40B4-BE49-F238E27FC236}">
                <a16:creationId xmlns:a16="http://schemas.microsoft.com/office/drawing/2014/main" id="{45F6BB85-E018-8F76-E575-98AFD1B07D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690210-ACE2-71F9-53AE-627FC37FCC94}"/>
              </a:ext>
            </a:extLst>
          </p:cNvPr>
          <p:cNvSpPr>
            <a:spLocks noGrp="1"/>
          </p:cNvSpPr>
          <p:nvPr>
            <p:ph type="sldNum" sz="quarter" idx="12"/>
          </p:nvPr>
        </p:nvSpPr>
        <p:spPr/>
        <p:txBody>
          <a:bodyPr/>
          <a:lstStyle/>
          <a:p>
            <a:fld id="{F779790C-3A4A-468A-92D2-42C783BEF0C4}" type="slidenum">
              <a:rPr lang="en-IN" smtClean="0"/>
              <a:t>‹#›</a:t>
            </a:fld>
            <a:endParaRPr lang="en-IN"/>
          </a:p>
        </p:txBody>
      </p:sp>
    </p:spTree>
    <p:extLst>
      <p:ext uri="{BB962C8B-B14F-4D97-AF65-F5344CB8AC3E}">
        <p14:creationId xmlns:p14="http://schemas.microsoft.com/office/powerpoint/2010/main" val="4185234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66619-54E3-2BB4-544C-765827681BA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EE56E69-DEE4-C0E6-FF94-DDCA174C65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42BDA1-94B5-F6E9-C9BF-8760450FE8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0522BF8-5FBC-4307-6859-FCF53D8B8A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2A891D-5E01-2C19-79A0-8F9F3578A8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D071E85-369F-D87F-E281-4986E2947634}"/>
              </a:ext>
            </a:extLst>
          </p:cNvPr>
          <p:cNvSpPr>
            <a:spLocks noGrp="1"/>
          </p:cNvSpPr>
          <p:nvPr>
            <p:ph type="dt" sz="half" idx="10"/>
          </p:nvPr>
        </p:nvSpPr>
        <p:spPr/>
        <p:txBody>
          <a:bodyPr/>
          <a:lstStyle/>
          <a:p>
            <a:fld id="{23BE98A5-0DB8-40EF-9273-1C52098616B9}" type="datetimeFigureOut">
              <a:rPr lang="en-IN" smtClean="0"/>
              <a:t>21-09-2026</a:t>
            </a:fld>
            <a:endParaRPr lang="en-IN"/>
          </a:p>
        </p:txBody>
      </p:sp>
      <p:sp>
        <p:nvSpPr>
          <p:cNvPr id="8" name="Footer Placeholder 7">
            <a:extLst>
              <a:ext uri="{FF2B5EF4-FFF2-40B4-BE49-F238E27FC236}">
                <a16:creationId xmlns:a16="http://schemas.microsoft.com/office/drawing/2014/main" id="{557263BD-8FA4-1D42-4669-78A6CBC1BF2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C4FE968-38B0-BC48-47B9-0A03E8778A2D}"/>
              </a:ext>
            </a:extLst>
          </p:cNvPr>
          <p:cNvSpPr>
            <a:spLocks noGrp="1"/>
          </p:cNvSpPr>
          <p:nvPr>
            <p:ph type="sldNum" sz="quarter" idx="12"/>
          </p:nvPr>
        </p:nvSpPr>
        <p:spPr/>
        <p:txBody>
          <a:bodyPr/>
          <a:lstStyle/>
          <a:p>
            <a:fld id="{F779790C-3A4A-468A-92D2-42C783BEF0C4}" type="slidenum">
              <a:rPr lang="en-IN" smtClean="0"/>
              <a:t>‹#›</a:t>
            </a:fld>
            <a:endParaRPr lang="en-IN"/>
          </a:p>
        </p:txBody>
      </p:sp>
    </p:spTree>
    <p:extLst>
      <p:ext uri="{BB962C8B-B14F-4D97-AF65-F5344CB8AC3E}">
        <p14:creationId xmlns:p14="http://schemas.microsoft.com/office/powerpoint/2010/main" val="32941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577CF-8EAC-E992-D9C5-24319AAFD0C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FB36364-F9A0-5D76-09D1-3CC0C6D70BA8}"/>
              </a:ext>
            </a:extLst>
          </p:cNvPr>
          <p:cNvSpPr>
            <a:spLocks noGrp="1"/>
          </p:cNvSpPr>
          <p:nvPr>
            <p:ph type="dt" sz="half" idx="10"/>
          </p:nvPr>
        </p:nvSpPr>
        <p:spPr/>
        <p:txBody>
          <a:bodyPr/>
          <a:lstStyle/>
          <a:p>
            <a:fld id="{23BE98A5-0DB8-40EF-9273-1C52098616B9}" type="datetimeFigureOut">
              <a:rPr lang="en-IN" smtClean="0"/>
              <a:t>21-09-2026</a:t>
            </a:fld>
            <a:endParaRPr lang="en-IN"/>
          </a:p>
        </p:txBody>
      </p:sp>
      <p:sp>
        <p:nvSpPr>
          <p:cNvPr id="4" name="Footer Placeholder 3">
            <a:extLst>
              <a:ext uri="{FF2B5EF4-FFF2-40B4-BE49-F238E27FC236}">
                <a16:creationId xmlns:a16="http://schemas.microsoft.com/office/drawing/2014/main" id="{570FC85A-8C60-3262-6893-8ECD14EF323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F1E5900-FCA0-0987-A495-0CDD35AF0718}"/>
              </a:ext>
            </a:extLst>
          </p:cNvPr>
          <p:cNvSpPr>
            <a:spLocks noGrp="1"/>
          </p:cNvSpPr>
          <p:nvPr>
            <p:ph type="sldNum" sz="quarter" idx="12"/>
          </p:nvPr>
        </p:nvSpPr>
        <p:spPr/>
        <p:txBody>
          <a:bodyPr/>
          <a:lstStyle/>
          <a:p>
            <a:fld id="{F779790C-3A4A-468A-92D2-42C783BEF0C4}" type="slidenum">
              <a:rPr lang="en-IN" smtClean="0"/>
              <a:t>‹#›</a:t>
            </a:fld>
            <a:endParaRPr lang="en-IN"/>
          </a:p>
        </p:txBody>
      </p:sp>
    </p:spTree>
    <p:extLst>
      <p:ext uri="{BB962C8B-B14F-4D97-AF65-F5344CB8AC3E}">
        <p14:creationId xmlns:p14="http://schemas.microsoft.com/office/powerpoint/2010/main" val="1640418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7E7E93-4BB8-D79D-550B-94F722CA9F78}"/>
              </a:ext>
            </a:extLst>
          </p:cNvPr>
          <p:cNvSpPr>
            <a:spLocks noGrp="1"/>
          </p:cNvSpPr>
          <p:nvPr>
            <p:ph type="dt" sz="half" idx="10"/>
          </p:nvPr>
        </p:nvSpPr>
        <p:spPr/>
        <p:txBody>
          <a:bodyPr/>
          <a:lstStyle/>
          <a:p>
            <a:fld id="{23BE98A5-0DB8-40EF-9273-1C52098616B9}" type="datetimeFigureOut">
              <a:rPr lang="en-IN" smtClean="0"/>
              <a:t>21-09-2026</a:t>
            </a:fld>
            <a:endParaRPr lang="en-IN"/>
          </a:p>
        </p:txBody>
      </p:sp>
      <p:sp>
        <p:nvSpPr>
          <p:cNvPr id="3" name="Footer Placeholder 2">
            <a:extLst>
              <a:ext uri="{FF2B5EF4-FFF2-40B4-BE49-F238E27FC236}">
                <a16:creationId xmlns:a16="http://schemas.microsoft.com/office/drawing/2014/main" id="{9D8266AE-4CD5-2D46-996E-0EA399CC2EA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DFD58E2-9FD6-A1D4-5674-11FBE28D6D26}"/>
              </a:ext>
            </a:extLst>
          </p:cNvPr>
          <p:cNvSpPr>
            <a:spLocks noGrp="1"/>
          </p:cNvSpPr>
          <p:nvPr>
            <p:ph type="sldNum" sz="quarter" idx="12"/>
          </p:nvPr>
        </p:nvSpPr>
        <p:spPr/>
        <p:txBody>
          <a:bodyPr/>
          <a:lstStyle/>
          <a:p>
            <a:fld id="{F779790C-3A4A-468A-92D2-42C783BEF0C4}" type="slidenum">
              <a:rPr lang="en-IN" smtClean="0"/>
              <a:t>‹#›</a:t>
            </a:fld>
            <a:endParaRPr lang="en-IN"/>
          </a:p>
        </p:txBody>
      </p:sp>
    </p:spTree>
    <p:extLst>
      <p:ext uri="{BB962C8B-B14F-4D97-AF65-F5344CB8AC3E}">
        <p14:creationId xmlns:p14="http://schemas.microsoft.com/office/powerpoint/2010/main" val="1622795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BD559-1D68-1121-EF23-59B40C42CB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CC86FB1-221F-5356-D664-BB7E79D4D1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CE0EB3-E570-8D65-FFC5-3312BC041A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2B3E01-663C-E78F-4E55-E3AFE2405A45}"/>
              </a:ext>
            </a:extLst>
          </p:cNvPr>
          <p:cNvSpPr>
            <a:spLocks noGrp="1"/>
          </p:cNvSpPr>
          <p:nvPr>
            <p:ph type="dt" sz="half" idx="10"/>
          </p:nvPr>
        </p:nvSpPr>
        <p:spPr/>
        <p:txBody>
          <a:bodyPr/>
          <a:lstStyle/>
          <a:p>
            <a:fld id="{23BE98A5-0DB8-40EF-9273-1C52098616B9}" type="datetimeFigureOut">
              <a:rPr lang="en-IN" smtClean="0"/>
              <a:t>21-09-2026</a:t>
            </a:fld>
            <a:endParaRPr lang="en-IN"/>
          </a:p>
        </p:txBody>
      </p:sp>
      <p:sp>
        <p:nvSpPr>
          <p:cNvPr id="6" name="Footer Placeholder 5">
            <a:extLst>
              <a:ext uri="{FF2B5EF4-FFF2-40B4-BE49-F238E27FC236}">
                <a16:creationId xmlns:a16="http://schemas.microsoft.com/office/drawing/2014/main" id="{35388E72-7746-CF4E-3C97-D35549099F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C374EA-0291-95C3-90BF-971EFCD5B559}"/>
              </a:ext>
            </a:extLst>
          </p:cNvPr>
          <p:cNvSpPr>
            <a:spLocks noGrp="1"/>
          </p:cNvSpPr>
          <p:nvPr>
            <p:ph type="sldNum" sz="quarter" idx="12"/>
          </p:nvPr>
        </p:nvSpPr>
        <p:spPr/>
        <p:txBody>
          <a:bodyPr/>
          <a:lstStyle/>
          <a:p>
            <a:fld id="{F779790C-3A4A-468A-92D2-42C783BEF0C4}" type="slidenum">
              <a:rPr lang="en-IN" smtClean="0"/>
              <a:t>‹#›</a:t>
            </a:fld>
            <a:endParaRPr lang="en-IN"/>
          </a:p>
        </p:txBody>
      </p:sp>
    </p:spTree>
    <p:extLst>
      <p:ext uri="{BB962C8B-B14F-4D97-AF65-F5344CB8AC3E}">
        <p14:creationId xmlns:p14="http://schemas.microsoft.com/office/powerpoint/2010/main" val="494073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5B9DC-5E04-C391-99A1-98A1081031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CC48B0B-EB9A-17F5-71D3-C2401F4C63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A9D1E44-3E99-1356-4BD1-F73278DD7E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9A706-3CE3-1C68-1BB2-23D0BA97EDC4}"/>
              </a:ext>
            </a:extLst>
          </p:cNvPr>
          <p:cNvSpPr>
            <a:spLocks noGrp="1"/>
          </p:cNvSpPr>
          <p:nvPr>
            <p:ph type="dt" sz="half" idx="10"/>
          </p:nvPr>
        </p:nvSpPr>
        <p:spPr/>
        <p:txBody>
          <a:bodyPr/>
          <a:lstStyle/>
          <a:p>
            <a:fld id="{23BE98A5-0DB8-40EF-9273-1C52098616B9}" type="datetimeFigureOut">
              <a:rPr lang="en-IN" smtClean="0"/>
              <a:t>21-09-2026</a:t>
            </a:fld>
            <a:endParaRPr lang="en-IN"/>
          </a:p>
        </p:txBody>
      </p:sp>
      <p:sp>
        <p:nvSpPr>
          <p:cNvPr id="6" name="Footer Placeholder 5">
            <a:extLst>
              <a:ext uri="{FF2B5EF4-FFF2-40B4-BE49-F238E27FC236}">
                <a16:creationId xmlns:a16="http://schemas.microsoft.com/office/drawing/2014/main" id="{C2A50CAF-7001-7720-B730-97E94E0194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B58D17D-B872-648A-4A8A-37B0F20AEBA9}"/>
              </a:ext>
            </a:extLst>
          </p:cNvPr>
          <p:cNvSpPr>
            <a:spLocks noGrp="1"/>
          </p:cNvSpPr>
          <p:nvPr>
            <p:ph type="sldNum" sz="quarter" idx="12"/>
          </p:nvPr>
        </p:nvSpPr>
        <p:spPr/>
        <p:txBody>
          <a:bodyPr/>
          <a:lstStyle/>
          <a:p>
            <a:fld id="{F779790C-3A4A-468A-92D2-42C783BEF0C4}" type="slidenum">
              <a:rPr lang="en-IN" smtClean="0"/>
              <a:t>‹#›</a:t>
            </a:fld>
            <a:endParaRPr lang="en-IN"/>
          </a:p>
        </p:txBody>
      </p:sp>
    </p:spTree>
    <p:extLst>
      <p:ext uri="{BB962C8B-B14F-4D97-AF65-F5344CB8AC3E}">
        <p14:creationId xmlns:p14="http://schemas.microsoft.com/office/powerpoint/2010/main" val="2434454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6BC78-6534-2C38-F710-F7EAB048E33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A04703-8F4F-6D3E-F383-C00C7945CB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7D6DBC-8949-A0B5-0E42-5809CD0406A0}"/>
              </a:ext>
            </a:extLst>
          </p:cNvPr>
          <p:cNvSpPr>
            <a:spLocks noGrp="1"/>
          </p:cNvSpPr>
          <p:nvPr>
            <p:ph type="dt" sz="half" idx="10"/>
          </p:nvPr>
        </p:nvSpPr>
        <p:spPr/>
        <p:txBody>
          <a:bodyPr/>
          <a:lstStyle/>
          <a:p>
            <a:fld id="{23BE98A5-0DB8-40EF-9273-1C52098616B9}" type="datetimeFigureOut">
              <a:rPr lang="en-IN" smtClean="0"/>
              <a:t>21-09-2026</a:t>
            </a:fld>
            <a:endParaRPr lang="en-IN"/>
          </a:p>
        </p:txBody>
      </p:sp>
      <p:sp>
        <p:nvSpPr>
          <p:cNvPr id="5" name="Footer Placeholder 4">
            <a:extLst>
              <a:ext uri="{FF2B5EF4-FFF2-40B4-BE49-F238E27FC236}">
                <a16:creationId xmlns:a16="http://schemas.microsoft.com/office/drawing/2014/main" id="{6075D4C4-9441-3A23-AE6D-3A58B46D68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C0533A-EBFB-D24F-2954-D64AC874A92E}"/>
              </a:ext>
            </a:extLst>
          </p:cNvPr>
          <p:cNvSpPr>
            <a:spLocks noGrp="1"/>
          </p:cNvSpPr>
          <p:nvPr>
            <p:ph type="sldNum" sz="quarter" idx="12"/>
          </p:nvPr>
        </p:nvSpPr>
        <p:spPr/>
        <p:txBody>
          <a:bodyPr/>
          <a:lstStyle/>
          <a:p>
            <a:fld id="{F779790C-3A4A-468A-92D2-42C783BEF0C4}" type="slidenum">
              <a:rPr lang="en-IN" smtClean="0"/>
              <a:t>‹#›</a:t>
            </a:fld>
            <a:endParaRPr lang="en-IN"/>
          </a:p>
        </p:txBody>
      </p:sp>
    </p:spTree>
    <p:extLst>
      <p:ext uri="{BB962C8B-B14F-4D97-AF65-F5344CB8AC3E}">
        <p14:creationId xmlns:p14="http://schemas.microsoft.com/office/powerpoint/2010/main" val="2215417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4172DA-5B35-E19F-BFCA-FB8BC46531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C88C5A-AD80-376A-6BD7-916ABE9FF9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25AE4E-FEDC-79C7-5426-8021E87E7913}"/>
              </a:ext>
            </a:extLst>
          </p:cNvPr>
          <p:cNvSpPr>
            <a:spLocks noGrp="1"/>
          </p:cNvSpPr>
          <p:nvPr>
            <p:ph type="dt" sz="half" idx="10"/>
          </p:nvPr>
        </p:nvSpPr>
        <p:spPr/>
        <p:txBody>
          <a:bodyPr/>
          <a:lstStyle/>
          <a:p>
            <a:fld id="{23BE98A5-0DB8-40EF-9273-1C52098616B9}" type="datetimeFigureOut">
              <a:rPr lang="en-IN" smtClean="0"/>
              <a:t>21-09-2026</a:t>
            </a:fld>
            <a:endParaRPr lang="en-IN"/>
          </a:p>
        </p:txBody>
      </p:sp>
      <p:sp>
        <p:nvSpPr>
          <p:cNvPr id="5" name="Footer Placeholder 4">
            <a:extLst>
              <a:ext uri="{FF2B5EF4-FFF2-40B4-BE49-F238E27FC236}">
                <a16:creationId xmlns:a16="http://schemas.microsoft.com/office/drawing/2014/main" id="{3221611C-8830-7EF4-10FA-19BC9404C7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E4C4CC-EDBC-F792-DBA4-AB1AF34268EA}"/>
              </a:ext>
            </a:extLst>
          </p:cNvPr>
          <p:cNvSpPr>
            <a:spLocks noGrp="1"/>
          </p:cNvSpPr>
          <p:nvPr>
            <p:ph type="sldNum" sz="quarter" idx="12"/>
          </p:nvPr>
        </p:nvSpPr>
        <p:spPr/>
        <p:txBody>
          <a:bodyPr/>
          <a:lstStyle/>
          <a:p>
            <a:fld id="{F779790C-3A4A-468A-92D2-42C783BEF0C4}" type="slidenum">
              <a:rPr lang="en-IN" smtClean="0"/>
              <a:t>‹#›</a:t>
            </a:fld>
            <a:endParaRPr lang="en-IN"/>
          </a:p>
        </p:txBody>
      </p:sp>
    </p:spTree>
    <p:extLst>
      <p:ext uri="{BB962C8B-B14F-4D97-AF65-F5344CB8AC3E}">
        <p14:creationId xmlns:p14="http://schemas.microsoft.com/office/powerpoint/2010/main" val="13988029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CC487C-AE3E-2939-4220-0A0E9784B3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9D3E1B-9E5E-8BFF-041F-720D5DC71B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C171C-2397-2A42-5976-92BFD46417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E98A5-0DB8-40EF-9273-1C52098616B9}" type="datetimeFigureOut">
              <a:rPr lang="en-IN" smtClean="0"/>
              <a:t>21-09-2026</a:t>
            </a:fld>
            <a:endParaRPr lang="en-IN"/>
          </a:p>
        </p:txBody>
      </p:sp>
      <p:sp>
        <p:nvSpPr>
          <p:cNvPr id="5" name="Footer Placeholder 4">
            <a:extLst>
              <a:ext uri="{FF2B5EF4-FFF2-40B4-BE49-F238E27FC236}">
                <a16:creationId xmlns:a16="http://schemas.microsoft.com/office/drawing/2014/main" id="{6E5CA24A-AEA5-3362-FD79-CC85370E95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3D237A6-EF3C-9806-150A-51E1956405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79790C-3A4A-468A-92D2-42C783BEF0C4}" type="slidenum">
              <a:rPr lang="en-IN" smtClean="0"/>
              <a:t>‹#›</a:t>
            </a:fld>
            <a:endParaRPr lang="en-IN"/>
          </a:p>
        </p:txBody>
      </p:sp>
    </p:spTree>
    <p:extLst>
      <p:ext uri="{BB962C8B-B14F-4D97-AF65-F5344CB8AC3E}">
        <p14:creationId xmlns:p14="http://schemas.microsoft.com/office/powerpoint/2010/main" val="3579206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25.png"/><Relationship Id="rId6" Type="http://schemas.openxmlformats.org/officeDocument/2006/relationships/image" Target="../media/image26.jpg"/><Relationship Id="rId7"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jpg"/><Relationship Id="rId7"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13.png"/><Relationship Id="rId7" Type="http://schemas.openxmlformats.org/officeDocument/2006/relationships/image" Target="../media/image23.jpg"/><Relationship Id="rId8"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jp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est-loktak.jpg"/>
          <p:cNvPicPr>
            <a:picLocks noChangeAspect="1"/>
          </p:cNvPicPr>
          <p:nvPr/>
        </p:nvPicPr>
        <p:blipFill>
          <a:blip r:embed="rId2"/>
          <a:srcRect l="23906" r="23906"/>
          <a:stretch>
            <a:fillRect/>
          </a:stretch>
        </p:blipFill>
        <p:spPr>
          <a:xfrm>
            <a:off x="6702552" y="0"/>
            <a:ext cx="5486400" cy="6858000"/>
          </a:xfrm>
          <a:prstGeom prst="rect">
            <a:avLst/>
          </a:prstGeom>
        </p:spPr>
      </p:pic>
      <p:sp>
        <p:nvSpPr>
          <p:cNvPr id="2" name="Title 1">
            <a:extLst>
              <a:ext uri="{FF2B5EF4-FFF2-40B4-BE49-F238E27FC236}">
                <a16:creationId xmlns:a16="http://schemas.microsoft.com/office/drawing/2014/main" id="{26D08D52-5901-77A2-8685-E1A2338BFAE0}"/>
              </a:ext>
            </a:extLst>
          </p:cNvPr>
          <p:cNvSpPr>
            <a:spLocks noGrp="1"/>
          </p:cNvSpPr>
          <p:nvPr>
            <p:ph type="ctrTitle"/>
          </p:nvPr>
        </p:nvSpPr>
        <p:spPr>
          <a:xfrm>
            <a:off x="640080" y="1097280"/>
            <a:ext cx="5760720" cy="548640"/>
          </a:xfrm>
        </p:spPr>
        <p:txBody>
          <a:bodyPr wrap="square" anchor="t" lIns="0" rIns="0" tIns="0" bIns="0">
            <a:normAutofit/>
          </a:bodyPr>
          <a:lstStyle/>
          <a:p>
            <a:pPr algn="l"/>
            <a:r>
              <a:rPr sz="2000" b="1">
                <a:solidFill>
                  <a:srgbClr val="5F6B6D"/>
                </a:solidFill>
                <a:latin typeface="Calibri"/>
              </a:rPr>
              <a:t>Problem Statement</a:t>
            </a:r>
            <a:endParaRPr lang="en-IN" sz="4400" b="1" dirty="0"/>
          </a:p>
        </p:txBody>
      </p:sp>
      <p:sp>
        <p:nvSpPr>
          <p:cNvPr id="3" name="Subtitle 2">
            <a:extLst>
              <a:ext uri="{FF2B5EF4-FFF2-40B4-BE49-F238E27FC236}">
                <a16:creationId xmlns:a16="http://schemas.microsoft.com/office/drawing/2014/main" id="{7FF827F7-6CE2-1D98-54F4-7E04D97BB9EC}"/>
              </a:ext>
            </a:extLst>
          </p:cNvPr>
          <p:cNvSpPr>
            <a:spLocks noGrp="1"/>
          </p:cNvSpPr>
          <p:nvPr>
            <p:ph type="subTitle" idx="1"/>
          </p:nvPr>
        </p:nvSpPr>
        <p:spPr>
          <a:xfrm>
            <a:off x="640080" y="4800600"/>
            <a:ext cx="5577840" cy="914400"/>
          </a:xfrm>
        </p:spPr>
        <p:txBody>
          <a:bodyPr lIns="0" rIns="0" tIns="0" bIns="0"/>
          <a:lstStyle/>
          <a:p>
            <a:pPr algn="l"/>
            <a:r>
              <a:rPr lang="en-US" sz="1800" dirty="0" b="1">
                <a:solidFill>
                  <a:srgbClr val="1B2A2F"/>
                </a:solidFill>
              </a:rPr>
              <a:t>Team Number:  </a:t>
            </a:r>
          </a:p>
          <a:p>
            <a:pPr algn="l"/>
            <a:r>
              <a:rPr lang="en-US" sz="1800" dirty="0" b="1">
                <a:solidFill>
                  <a:srgbClr val="1B2A2F"/>
                </a:solidFill>
              </a:rPr>
              <a:t>Team Name:  </a:t>
            </a:r>
            <a:endParaRPr lang="en-IN" sz="2800" dirty="0"/>
          </a:p>
        </p:txBody>
      </p:sp>
      <p:sp>
        <p:nvSpPr>
          <p:cNvPr id="5" name="TextBox 4"/>
          <p:cNvSpPr txBox="1"/>
          <p:nvPr/>
        </p:nvSpPr>
        <p:spPr>
          <a:xfrm>
            <a:off x="6858000" y="6583680"/>
            <a:ext cx="5120640" cy="201168"/>
          </a:xfrm>
          <a:prstGeom prst="rect">
            <a:avLst/>
          </a:prstGeom>
          <a:noFill/>
        </p:spPr>
        <p:txBody>
          <a:bodyPr wrap="square" anchor="t" lIns="0" rIns="0" tIns="0" bIns="0">
            <a:spAutoFit/>
          </a:bodyPr>
          <a:lstStyle/>
          <a:p>
            <a:pPr algn="r">
              <a:spcAft>
                <a:spcPts val="0"/>
              </a:spcAft>
            </a:pPr>
            <a:r>
              <a:rPr sz="800" b="0" i="0">
                <a:solidFill>
                  <a:srgbClr val="FFFFFF"/>
                </a:solidFill>
              </a:rPr>
              <a:t>Loktak Lake · Photo: Sudiptorana, CC BY-SA 4.0</a:t>
            </a:r>
          </a:p>
        </p:txBody>
      </p:sp>
      <p:sp>
        <p:nvSpPr>
          <p:cNvPr id="6" name="TextBox 5"/>
          <p:cNvSpPr txBox="1"/>
          <p:nvPr/>
        </p:nvSpPr>
        <p:spPr>
          <a:xfrm>
            <a:off x="640080" y="731520"/>
            <a:ext cx="5760720" cy="320040"/>
          </a:xfrm>
          <a:prstGeom prst="rect">
            <a:avLst/>
          </a:prstGeom>
          <a:noFill/>
        </p:spPr>
        <p:txBody>
          <a:bodyPr wrap="square" anchor="t" lIns="0" rIns="0" tIns="0" bIns="0">
            <a:spAutoFit/>
          </a:bodyPr>
          <a:lstStyle/>
          <a:p>
            <a:pPr algn="l">
              <a:spcAft>
                <a:spcPts val="0"/>
              </a:spcAft>
            </a:pPr>
            <a:r>
              <a:rPr sz="1200" b="1" i="0">
                <a:solidFill>
                  <a:srgbClr val="C8385A"/>
                </a:solidFill>
              </a:rPr>
              <a:t>RE-IMAGINING MANIPUR — HACKATHON 2026</a:t>
            </a:r>
          </a:p>
        </p:txBody>
      </p:sp>
      <p:sp>
        <p:nvSpPr>
          <p:cNvPr id="7" name="TextBox 6"/>
          <p:cNvSpPr txBox="1"/>
          <p:nvPr/>
        </p:nvSpPr>
        <p:spPr>
          <a:xfrm>
            <a:off x="640080" y="1600200"/>
            <a:ext cx="5760720" cy="914400"/>
          </a:xfrm>
          <a:prstGeom prst="rect">
            <a:avLst/>
          </a:prstGeom>
          <a:noFill/>
        </p:spPr>
        <p:txBody>
          <a:bodyPr wrap="square" anchor="t" lIns="0" rIns="0" tIns="0" bIns="0">
            <a:spAutoFit/>
          </a:bodyPr>
          <a:lstStyle/>
          <a:p>
            <a:pPr algn="l">
              <a:spcAft>
                <a:spcPts val="0"/>
              </a:spcAft>
            </a:pPr>
            <a:r>
              <a:rPr sz="3000" b="1" i="0">
                <a:solidFill>
                  <a:srgbClr val="1B2A2F"/>
                </a:solidFill>
              </a:rPr>
              <a:t>One-Stop Digital Tourist Guide for Manipur</a:t>
            </a:r>
          </a:p>
        </p:txBody>
      </p:sp>
      <p:sp>
        <p:nvSpPr>
          <p:cNvPr id="8" name="TextBox 7"/>
          <p:cNvSpPr txBox="1"/>
          <p:nvPr/>
        </p:nvSpPr>
        <p:spPr>
          <a:xfrm>
            <a:off x="640080" y="2606040"/>
            <a:ext cx="5760720" cy="365760"/>
          </a:xfrm>
          <a:prstGeom prst="rect">
            <a:avLst/>
          </a:prstGeom>
          <a:noFill/>
        </p:spPr>
        <p:txBody>
          <a:bodyPr wrap="square" anchor="t" lIns="0" rIns="0" tIns="0" bIns="0">
            <a:spAutoFit/>
          </a:bodyPr>
          <a:lstStyle/>
          <a:p>
            <a:pPr algn="l">
              <a:spcAft>
                <a:spcPts val="0"/>
              </a:spcAft>
            </a:pPr>
            <a:r>
              <a:rPr sz="1400" b="1" i="0">
                <a:solidFill>
                  <a:srgbClr val="0F5257"/>
                </a:solidFill>
              </a:rPr>
              <a:t>PS 8 </a:t>
            </a:r>
            <a:r>
              <a:rPr sz="1400" b="0" i="0">
                <a:solidFill>
                  <a:srgbClr val="5F6B6D"/>
                </a:solidFill>
              </a:rPr>
              <a:t>— also delivering PS 1, 2, 3, 5, 6 and 7</a:t>
            </a:r>
          </a:p>
        </p:txBody>
      </p:sp>
      <p:sp>
        <p:nvSpPr>
          <p:cNvPr id="9" name="Rounded Rectangle 8"/>
          <p:cNvSpPr/>
          <p:nvPr/>
        </p:nvSpPr>
        <p:spPr>
          <a:xfrm>
            <a:off x="640080" y="3246120"/>
            <a:ext cx="5577840" cy="1143000"/>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364992"/>
            <a:ext cx="5212080" cy="457200"/>
          </a:xfrm>
          <a:prstGeom prst="rect">
            <a:avLst/>
          </a:prstGeom>
          <a:noFill/>
        </p:spPr>
        <p:txBody>
          <a:bodyPr wrap="square" anchor="t" lIns="0" rIns="0" tIns="0" bIns="0">
            <a:spAutoFit/>
          </a:bodyPr>
          <a:lstStyle/>
          <a:p>
            <a:pPr algn="l">
              <a:spcAft>
                <a:spcPts val="0"/>
              </a:spcAft>
            </a:pPr>
            <a:r>
              <a:rPr sz="2600" b="1" i="0">
                <a:solidFill>
                  <a:srgbClr val="0F5257"/>
                </a:solidFill>
              </a:rPr>
              <a:t>OneStop Manipur</a:t>
            </a:r>
          </a:p>
        </p:txBody>
      </p:sp>
      <p:sp>
        <p:nvSpPr>
          <p:cNvPr id="11" name="TextBox 10"/>
          <p:cNvSpPr txBox="1"/>
          <p:nvPr/>
        </p:nvSpPr>
        <p:spPr>
          <a:xfrm>
            <a:off x="868680" y="3840480"/>
            <a:ext cx="5212080" cy="457200"/>
          </a:xfrm>
          <a:prstGeom prst="rect">
            <a:avLst/>
          </a:prstGeom>
          <a:noFill/>
        </p:spPr>
        <p:txBody>
          <a:bodyPr wrap="square" anchor="t" lIns="0" rIns="0" tIns="0" bIns="0">
            <a:spAutoFit/>
          </a:bodyPr>
          <a:lstStyle/>
          <a:p>
            <a:pPr algn="l">
              <a:spcAft>
                <a:spcPts val="0"/>
              </a:spcAft>
            </a:pPr>
            <a:r>
              <a:rPr sz="1400" b="0" i="0">
                <a:solidFill>
                  <a:srgbClr val="1B2A2F"/>
                </a:solidFill>
              </a:rPr>
              <a:t>One stop for everyone in Manipur's tourism</a:t>
            </a:r>
          </a:p>
        </p:txBody>
      </p:sp>
      <p:sp>
        <p:nvSpPr>
          <p:cNvPr id="12" name="TextBox 11"/>
          <p:cNvSpPr txBox="1"/>
          <p:nvPr/>
        </p:nvSpPr>
        <p:spPr>
          <a:xfrm>
            <a:off x="640080" y="5989320"/>
            <a:ext cx="5577840" cy="274320"/>
          </a:xfrm>
          <a:prstGeom prst="rect">
            <a:avLst/>
          </a:prstGeom>
          <a:noFill/>
        </p:spPr>
        <p:txBody>
          <a:bodyPr wrap="square" anchor="t" lIns="0" rIns="0" tIns="0" bIns="0">
            <a:spAutoFit/>
          </a:bodyPr>
          <a:lstStyle/>
          <a:p>
            <a:pPr algn="l">
              <a:spcAft>
                <a:spcPts val="0"/>
              </a:spcAft>
            </a:pPr>
            <a:r>
              <a:rPr sz="1200" b="0" i="0">
                <a:solidFill>
                  <a:srgbClr val="5F6B6D"/>
                </a:solidFill>
              </a:rPr>
              <a:t>Live prototype: onestop-manipur.vercel.app</a:t>
            </a:r>
          </a:p>
        </p:txBody>
      </p:sp>
    </p:spTree>
    <p:extLst>
      <p:ext uri="{BB962C8B-B14F-4D97-AF65-F5344CB8AC3E}">
        <p14:creationId xmlns:p14="http://schemas.microsoft.com/office/powerpoint/2010/main" val="2727883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CFC8B-2019-DDA6-4935-5E297CDF38BD}"/>
              </a:ext>
            </a:extLst>
          </p:cNvPr>
          <p:cNvSpPr>
            <a:spLocks noGrp="1"/>
          </p:cNvSpPr>
          <p:nvPr>
            <p:ph type="title"/>
          </p:nvPr>
        </p:nvSpPr>
        <p:spPr>
          <a:xfrm>
            <a:off x="548640" y="320040"/>
            <a:ext cx="11064240" cy="685800"/>
          </a:xfrm>
        </p:spPr>
        <p:txBody>
          <a:bodyPr wrap="square" anchor="t" lIns="0" rIns="0" tIns="0" bIns="0"/>
          <a:lstStyle/>
          <a:p>
            <a:pPr algn="l"/>
            <a:r>
              <a:rPr sz="3000" b="1">
                <a:solidFill>
                  <a:srgbClr val="1B2A2F"/>
                </a:solidFill>
                <a:latin typeface="Calibri"/>
              </a:rPr>
              <a:t>Proposed Solution — OneStop Manipur</a:t>
            </a:r>
            <a:endParaRPr lang="en-IN" b="1" dirty="0"/>
          </a:p>
        </p:txBody>
      </p:sp>
      <p:sp>
        <p:nvSpPr>
          <p:cNvPr id="3" name="TextBox 2"/>
          <p:cNvSpPr txBox="1"/>
          <p:nvPr/>
        </p:nvSpPr>
        <p:spPr>
          <a:xfrm>
            <a:off x="548640" y="987552"/>
            <a:ext cx="11064240" cy="320040"/>
          </a:xfrm>
          <a:prstGeom prst="rect">
            <a:avLst/>
          </a:prstGeom>
          <a:noFill/>
        </p:spPr>
        <p:txBody>
          <a:bodyPr wrap="square" anchor="t" lIns="0" rIns="0" tIns="0" bIns="0">
            <a:spAutoFit/>
          </a:bodyPr>
          <a:lstStyle/>
          <a:p>
            <a:pPr algn="l">
              <a:spcAft>
                <a:spcPts val="0"/>
              </a:spcAft>
            </a:pPr>
            <a:r>
              <a:rPr sz="1400" b="0" i="1">
                <a:solidFill>
                  <a:srgbClr val="5F6B6D"/>
                </a:solidFill>
              </a:rPr>
              <a:t>One platform, four interfaces, one shared tourism knowledge layer</a:t>
            </a:r>
          </a:p>
        </p:txBody>
      </p:sp>
      <p:sp>
        <p:nvSpPr>
          <p:cNvPr id="4" name="Rounded Rectangle 3"/>
          <p:cNvSpPr/>
          <p:nvPr/>
        </p:nvSpPr>
        <p:spPr>
          <a:xfrm>
            <a:off x="548640" y="1508760"/>
            <a:ext cx="2624328" cy="2514600"/>
          </a:xfrm>
          <a:prstGeom prst="roundRect">
            <a:avLst>
              <a:gd name="adj" fmla="val 8000"/>
            </a:avLst>
          </a:prstGeom>
          <a:solidFill>
            <a:srgbClr val="FFFFFF"/>
          </a:solidFill>
          <a:ln w="12700">
            <a:solidFill>
              <a:srgbClr val="D5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737360"/>
            <a:ext cx="548640" cy="548640"/>
          </a:xfrm>
          <a:prstGeom prst="ellipse">
            <a:avLst/>
          </a:prstGeom>
          <a:solidFill>
            <a:srgbClr val="C8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mpass-w.png"/>
          <p:cNvPicPr>
            <a:picLocks noChangeAspect="1"/>
          </p:cNvPicPr>
          <p:nvPr/>
        </p:nvPicPr>
        <p:blipFill>
          <a:blip r:embed="rId2"/>
          <a:stretch>
            <a:fillRect/>
          </a:stretch>
        </p:blipFill>
        <p:spPr>
          <a:xfrm>
            <a:off x="914400" y="1874519"/>
            <a:ext cx="274320" cy="274320"/>
          </a:xfrm>
          <a:prstGeom prst="rect">
            <a:avLst/>
          </a:prstGeom>
        </p:spPr>
      </p:pic>
      <p:sp>
        <p:nvSpPr>
          <p:cNvPr id="7" name="TextBox 6"/>
          <p:cNvSpPr txBox="1"/>
          <p:nvPr/>
        </p:nvSpPr>
        <p:spPr>
          <a:xfrm>
            <a:off x="777240" y="2377440"/>
            <a:ext cx="2167128" cy="365760"/>
          </a:xfrm>
          <a:prstGeom prst="rect">
            <a:avLst/>
          </a:prstGeom>
          <a:noFill/>
        </p:spPr>
        <p:txBody>
          <a:bodyPr wrap="square" anchor="t" lIns="0" rIns="0" tIns="0" bIns="0">
            <a:spAutoFit/>
          </a:bodyPr>
          <a:lstStyle/>
          <a:p>
            <a:pPr algn="l">
              <a:spcAft>
                <a:spcPts val="0"/>
              </a:spcAft>
            </a:pPr>
            <a:r>
              <a:rPr sz="1600" b="1" i="0">
                <a:solidFill>
                  <a:srgbClr val="0F5257"/>
                </a:solidFill>
              </a:rPr>
              <a:t>Explore Manipur</a:t>
            </a:r>
          </a:p>
        </p:txBody>
      </p:sp>
      <p:sp>
        <p:nvSpPr>
          <p:cNvPr id="8" name="TextBox 7"/>
          <p:cNvSpPr txBox="1"/>
          <p:nvPr/>
        </p:nvSpPr>
        <p:spPr>
          <a:xfrm>
            <a:off x="777240" y="2697480"/>
            <a:ext cx="2167128" cy="320040"/>
          </a:xfrm>
          <a:prstGeom prst="rect">
            <a:avLst/>
          </a:prstGeom>
          <a:noFill/>
        </p:spPr>
        <p:txBody>
          <a:bodyPr wrap="square" anchor="t" lIns="0" rIns="0" tIns="0" bIns="0">
            <a:spAutoFit/>
          </a:bodyPr>
          <a:lstStyle/>
          <a:p>
            <a:pPr algn="l">
              <a:spcAft>
                <a:spcPts val="0"/>
              </a:spcAft>
            </a:pPr>
            <a:r>
              <a:rPr sz="1100" b="1" i="0">
                <a:solidFill>
                  <a:srgbClr val="C8385A"/>
                </a:solidFill>
              </a:rPr>
              <a:t>Tourists</a:t>
            </a:r>
          </a:p>
        </p:txBody>
      </p:sp>
      <p:sp>
        <p:nvSpPr>
          <p:cNvPr id="9" name="TextBox 8"/>
          <p:cNvSpPr txBox="1"/>
          <p:nvPr/>
        </p:nvSpPr>
        <p:spPr>
          <a:xfrm>
            <a:off x="777240" y="3063240"/>
            <a:ext cx="2167128" cy="914400"/>
          </a:xfrm>
          <a:prstGeom prst="rect">
            <a:avLst/>
          </a:prstGeom>
          <a:noFill/>
        </p:spPr>
        <p:txBody>
          <a:bodyPr wrap="square" anchor="t" lIns="0" rIns="0" tIns="0" bIns="0">
            <a:spAutoFit/>
          </a:bodyPr>
          <a:lstStyle/>
          <a:p>
            <a:pPr algn="l">
              <a:spcAft>
                <a:spcPts val="0"/>
              </a:spcAft>
            </a:pPr>
            <a:r>
              <a:rPr sz="1200" b="0" i="0">
                <a:solidFill>
                  <a:srgbClr val="1B2A2F"/>
                </a:solidFill>
              </a:rPr>
              <a:t>Plan in your own words, discover places, food and events, book local hosts, get help.</a:t>
            </a:r>
          </a:p>
        </p:txBody>
      </p:sp>
      <p:sp>
        <p:nvSpPr>
          <p:cNvPr id="10" name="Rounded Rectangle 9"/>
          <p:cNvSpPr/>
          <p:nvPr/>
        </p:nvSpPr>
        <p:spPr>
          <a:xfrm>
            <a:off x="3364992" y="1508760"/>
            <a:ext cx="2624328" cy="2514600"/>
          </a:xfrm>
          <a:prstGeom prst="roundRect">
            <a:avLst>
              <a:gd name="adj" fmla="val 8000"/>
            </a:avLst>
          </a:prstGeom>
          <a:solidFill>
            <a:srgbClr val="FFFFFF"/>
          </a:solidFill>
          <a:ln w="12700">
            <a:solidFill>
              <a:srgbClr val="D5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593592" y="1737360"/>
            <a:ext cx="548640" cy="548640"/>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handshake-w.png"/>
          <p:cNvPicPr>
            <a:picLocks noChangeAspect="1"/>
          </p:cNvPicPr>
          <p:nvPr/>
        </p:nvPicPr>
        <p:blipFill>
          <a:blip r:embed="rId3"/>
          <a:stretch>
            <a:fillRect/>
          </a:stretch>
        </p:blipFill>
        <p:spPr>
          <a:xfrm>
            <a:off x="3730752" y="1874519"/>
            <a:ext cx="274320" cy="274320"/>
          </a:xfrm>
          <a:prstGeom prst="rect">
            <a:avLst/>
          </a:prstGeom>
        </p:spPr>
      </p:pic>
      <p:sp>
        <p:nvSpPr>
          <p:cNvPr id="13" name="TextBox 12"/>
          <p:cNvSpPr txBox="1"/>
          <p:nvPr/>
        </p:nvSpPr>
        <p:spPr>
          <a:xfrm>
            <a:off x="3593592" y="2377440"/>
            <a:ext cx="2167128" cy="365760"/>
          </a:xfrm>
          <a:prstGeom prst="rect">
            <a:avLst/>
          </a:prstGeom>
          <a:noFill/>
        </p:spPr>
        <p:txBody>
          <a:bodyPr wrap="square" anchor="t" lIns="0" rIns="0" tIns="0" bIns="0">
            <a:spAutoFit/>
          </a:bodyPr>
          <a:lstStyle/>
          <a:p>
            <a:pPr algn="l">
              <a:spcAft>
                <a:spcPts val="0"/>
              </a:spcAft>
            </a:pPr>
            <a:r>
              <a:rPr sz="1600" b="1" i="0">
                <a:solidFill>
                  <a:srgbClr val="0F5257"/>
                </a:solidFill>
              </a:rPr>
              <a:t>Tourism Partners</a:t>
            </a:r>
          </a:p>
        </p:txBody>
      </p:sp>
      <p:sp>
        <p:nvSpPr>
          <p:cNvPr id="14" name="TextBox 13"/>
          <p:cNvSpPr txBox="1"/>
          <p:nvPr/>
        </p:nvSpPr>
        <p:spPr>
          <a:xfrm>
            <a:off x="3593592" y="2697480"/>
            <a:ext cx="2167128" cy="320040"/>
          </a:xfrm>
          <a:prstGeom prst="rect">
            <a:avLst/>
          </a:prstGeom>
          <a:noFill/>
        </p:spPr>
        <p:txBody>
          <a:bodyPr wrap="square" anchor="t" lIns="0" rIns="0" tIns="0" bIns="0">
            <a:spAutoFit/>
          </a:bodyPr>
          <a:lstStyle/>
          <a:p>
            <a:pPr algn="l">
              <a:spcAft>
                <a:spcPts val="0"/>
              </a:spcAft>
            </a:pPr>
            <a:r>
              <a:rPr sz="1100" b="1" i="0">
                <a:solidFill>
                  <a:srgbClr val="C8385A"/>
                </a:solidFill>
              </a:rPr>
              <a:t>Homestays · guides · operators · artisans</a:t>
            </a:r>
          </a:p>
        </p:txBody>
      </p:sp>
      <p:sp>
        <p:nvSpPr>
          <p:cNvPr id="15" name="TextBox 14"/>
          <p:cNvSpPr txBox="1"/>
          <p:nvPr/>
        </p:nvSpPr>
        <p:spPr>
          <a:xfrm>
            <a:off x="3593592" y="3063240"/>
            <a:ext cx="2167128" cy="914400"/>
          </a:xfrm>
          <a:prstGeom prst="rect">
            <a:avLst/>
          </a:prstGeom>
          <a:noFill/>
        </p:spPr>
        <p:txBody>
          <a:bodyPr wrap="square" anchor="t" lIns="0" rIns="0" tIns="0" bIns="0">
            <a:spAutoFit/>
          </a:bodyPr>
          <a:lstStyle/>
          <a:p>
            <a:pPr algn="l">
              <a:spcAft>
                <a:spcPts val="0"/>
              </a:spcAft>
            </a:pPr>
            <a:r>
              <a:rPr sz="1200" b="0" i="0">
                <a:solidFill>
                  <a:srgbClr val="1B2A2F"/>
                </a:solidFill>
              </a:rPr>
              <a:t>Get verified, report availability daily, accept bookings and enquiries.</a:t>
            </a:r>
          </a:p>
        </p:txBody>
      </p:sp>
      <p:sp>
        <p:nvSpPr>
          <p:cNvPr id="16" name="Rounded Rectangle 15"/>
          <p:cNvSpPr/>
          <p:nvPr/>
        </p:nvSpPr>
        <p:spPr>
          <a:xfrm>
            <a:off x="6181344" y="1508760"/>
            <a:ext cx="2624328" cy="2514600"/>
          </a:xfrm>
          <a:prstGeom prst="roundRect">
            <a:avLst>
              <a:gd name="adj" fmla="val 8000"/>
            </a:avLst>
          </a:prstGeom>
          <a:solidFill>
            <a:srgbClr val="FFFFFF"/>
          </a:solidFill>
          <a:ln w="12700">
            <a:solidFill>
              <a:srgbClr val="D5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9944" y="1737360"/>
            <a:ext cx="548640" cy="548640"/>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amera-w.png"/>
          <p:cNvPicPr>
            <a:picLocks noChangeAspect="1"/>
          </p:cNvPicPr>
          <p:nvPr/>
        </p:nvPicPr>
        <p:blipFill>
          <a:blip r:embed="rId4"/>
          <a:stretch>
            <a:fillRect/>
          </a:stretch>
        </p:blipFill>
        <p:spPr>
          <a:xfrm>
            <a:off x="6547104" y="1874519"/>
            <a:ext cx="274320" cy="274320"/>
          </a:xfrm>
          <a:prstGeom prst="rect">
            <a:avLst/>
          </a:prstGeom>
        </p:spPr>
      </p:pic>
      <p:sp>
        <p:nvSpPr>
          <p:cNvPr id="19" name="TextBox 18"/>
          <p:cNvSpPr txBox="1"/>
          <p:nvPr/>
        </p:nvSpPr>
        <p:spPr>
          <a:xfrm>
            <a:off x="6409944" y="2377440"/>
            <a:ext cx="2167128" cy="365760"/>
          </a:xfrm>
          <a:prstGeom prst="rect">
            <a:avLst/>
          </a:prstGeom>
          <a:noFill/>
        </p:spPr>
        <p:txBody>
          <a:bodyPr wrap="square" anchor="t" lIns="0" rIns="0" tIns="0" bIns="0">
            <a:spAutoFit/>
          </a:bodyPr>
          <a:lstStyle/>
          <a:p>
            <a:pPr algn="l">
              <a:spcAft>
                <a:spcPts val="0"/>
              </a:spcAft>
            </a:pPr>
            <a:r>
              <a:rPr sz="1600" b="1" i="0">
                <a:solidFill>
                  <a:srgbClr val="0F5257"/>
                </a:solidFill>
              </a:rPr>
              <a:t>Create for Manipur</a:t>
            </a:r>
          </a:p>
        </p:txBody>
      </p:sp>
      <p:sp>
        <p:nvSpPr>
          <p:cNvPr id="20" name="TextBox 19"/>
          <p:cNvSpPr txBox="1"/>
          <p:nvPr/>
        </p:nvSpPr>
        <p:spPr>
          <a:xfrm>
            <a:off x="6409944" y="2697480"/>
            <a:ext cx="2167128" cy="320040"/>
          </a:xfrm>
          <a:prstGeom prst="rect">
            <a:avLst/>
          </a:prstGeom>
          <a:noFill/>
        </p:spPr>
        <p:txBody>
          <a:bodyPr wrap="square" anchor="t" lIns="0" rIns="0" tIns="0" bIns="0">
            <a:spAutoFit/>
          </a:bodyPr>
          <a:lstStyle/>
          <a:p>
            <a:pPr algn="l">
              <a:spcAft>
                <a:spcPts val="0"/>
              </a:spcAft>
            </a:pPr>
            <a:r>
              <a:rPr sz="1100" b="1" i="0">
                <a:solidFill>
                  <a:srgbClr val="C8385A"/>
                </a:solidFill>
              </a:rPr>
              <a:t>Local creators</a:t>
            </a:r>
          </a:p>
        </p:txBody>
      </p:sp>
      <p:sp>
        <p:nvSpPr>
          <p:cNvPr id="21" name="TextBox 20"/>
          <p:cNvSpPr txBox="1"/>
          <p:nvPr/>
        </p:nvSpPr>
        <p:spPr>
          <a:xfrm>
            <a:off x="6409944" y="3063240"/>
            <a:ext cx="2167128" cy="914400"/>
          </a:xfrm>
          <a:prstGeom prst="rect">
            <a:avLst/>
          </a:prstGeom>
          <a:noFill/>
        </p:spPr>
        <p:txBody>
          <a:bodyPr wrap="square" anchor="t" lIns="0" rIns="0" tIns="0" bIns="0">
            <a:spAutoFit/>
          </a:bodyPr>
          <a:lstStyle/>
          <a:p>
            <a:pPr algn="l">
              <a:spcAft>
                <a:spcPts val="0"/>
              </a:spcAft>
            </a:pPr>
            <a:r>
              <a:rPr sz="1200" b="0" i="0">
                <a:solidFill>
                  <a:srgbClr val="1B2A2F"/>
                </a:solidFill>
              </a:rPr>
              <a:t>Take up Department campaigns with AI briefs built on verified facts.</a:t>
            </a:r>
          </a:p>
        </p:txBody>
      </p:sp>
      <p:sp>
        <p:nvSpPr>
          <p:cNvPr id="22" name="Rounded Rectangle 21"/>
          <p:cNvSpPr/>
          <p:nvPr/>
        </p:nvSpPr>
        <p:spPr>
          <a:xfrm>
            <a:off x="8997696" y="1508760"/>
            <a:ext cx="2624328" cy="2514600"/>
          </a:xfrm>
          <a:prstGeom prst="roundRect">
            <a:avLst>
              <a:gd name="adj" fmla="val 8000"/>
            </a:avLst>
          </a:prstGeom>
          <a:solidFill>
            <a:srgbClr val="FFFFFF"/>
          </a:solidFill>
          <a:ln w="12700">
            <a:solidFill>
              <a:srgbClr val="D5E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226296" y="1737360"/>
            <a:ext cx="548640" cy="548640"/>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landmark-w.png"/>
          <p:cNvPicPr>
            <a:picLocks noChangeAspect="1"/>
          </p:cNvPicPr>
          <p:nvPr/>
        </p:nvPicPr>
        <p:blipFill>
          <a:blip r:embed="rId5"/>
          <a:stretch>
            <a:fillRect/>
          </a:stretch>
        </p:blipFill>
        <p:spPr>
          <a:xfrm>
            <a:off x="9363456" y="1874519"/>
            <a:ext cx="274320" cy="274320"/>
          </a:xfrm>
          <a:prstGeom prst="rect">
            <a:avLst/>
          </a:prstGeom>
        </p:spPr>
      </p:pic>
      <p:sp>
        <p:nvSpPr>
          <p:cNvPr id="25" name="TextBox 24"/>
          <p:cNvSpPr txBox="1"/>
          <p:nvPr/>
        </p:nvSpPr>
        <p:spPr>
          <a:xfrm>
            <a:off x="9226296" y="2377440"/>
            <a:ext cx="2167128" cy="365760"/>
          </a:xfrm>
          <a:prstGeom prst="rect">
            <a:avLst/>
          </a:prstGeom>
          <a:noFill/>
        </p:spPr>
        <p:txBody>
          <a:bodyPr wrap="square" anchor="t" lIns="0" rIns="0" tIns="0" bIns="0">
            <a:spAutoFit/>
          </a:bodyPr>
          <a:lstStyle/>
          <a:p>
            <a:pPr algn="l">
              <a:spcAft>
                <a:spcPts val="0"/>
              </a:spcAft>
            </a:pPr>
            <a:r>
              <a:rPr sz="1600" b="1" i="0">
                <a:solidFill>
                  <a:srgbClr val="0F5257"/>
                </a:solidFill>
              </a:rPr>
              <a:t>Decision Room</a:t>
            </a:r>
          </a:p>
        </p:txBody>
      </p:sp>
      <p:sp>
        <p:nvSpPr>
          <p:cNvPr id="26" name="TextBox 25"/>
          <p:cNvSpPr txBox="1"/>
          <p:nvPr/>
        </p:nvSpPr>
        <p:spPr>
          <a:xfrm>
            <a:off x="9226296" y="2697480"/>
            <a:ext cx="2167128" cy="320040"/>
          </a:xfrm>
          <a:prstGeom prst="rect">
            <a:avLst/>
          </a:prstGeom>
          <a:noFill/>
        </p:spPr>
        <p:txBody>
          <a:bodyPr wrap="square" anchor="t" lIns="0" rIns="0" tIns="0" bIns="0">
            <a:spAutoFit/>
          </a:bodyPr>
          <a:lstStyle/>
          <a:p>
            <a:pPr algn="l">
              <a:spcAft>
                <a:spcPts val="0"/>
              </a:spcAft>
            </a:pPr>
            <a:r>
              <a:rPr sz="1100" b="1" i="0">
                <a:solidFill>
                  <a:srgbClr val="C8385A"/>
                </a:solidFill>
              </a:rPr>
              <a:t>Tourism Department</a:t>
            </a:r>
          </a:p>
        </p:txBody>
      </p:sp>
      <p:sp>
        <p:nvSpPr>
          <p:cNvPr id="27" name="TextBox 26"/>
          <p:cNvSpPr txBox="1"/>
          <p:nvPr/>
        </p:nvSpPr>
        <p:spPr>
          <a:xfrm>
            <a:off x="9226296" y="3063240"/>
            <a:ext cx="2167128" cy="914400"/>
          </a:xfrm>
          <a:prstGeom prst="rect">
            <a:avLst/>
          </a:prstGeom>
          <a:noFill/>
        </p:spPr>
        <p:txBody>
          <a:bodyPr wrap="square" anchor="t" lIns="0" rIns="0" tIns="0" bIns="0">
            <a:spAutoFit/>
          </a:bodyPr>
          <a:lstStyle/>
          <a:p>
            <a:pPr algn="l">
              <a:spcAft>
                <a:spcPts val="0"/>
              </a:spcAft>
            </a:pPr>
            <a:r>
              <a:rPr sz="1200" b="0" i="0">
                <a:solidFill>
                  <a:srgbClr val="1B2A2F"/>
                </a:solidFill>
              </a:rPr>
              <a:t>Live tourism pulse, issues, campaigns and an AI analyst that shows its evidence.</a:t>
            </a:r>
          </a:p>
        </p:txBody>
      </p:sp>
      <p:sp>
        <p:nvSpPr>
          <p:cNvPr id="28" name="Rounded Rectangle 27"/>
          <p:cNvSpPr/>
          <p:nvPr/>
        </p:nvSpPr>
        <p:spPr>
          <a:xfrm>
            <a:off x="548640" y="4160520"/>
            <a:ext cx="11064240" cy="502920"/>
          </a:xfrm>
          <a:prstGeom prst="roundRect">
            <a:avLst>
              <a:gd name="adj" fmla="val 8000"/>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160520"/>
            <a:ext cx="11064240" cy="502920"/>
          </a:xfrm>
          <a:prstGeom prst="rect">
            <a:avLst/>
          </a:prstGeom>
          <a:noFill/>
        </p:spPr>
        <p:txBody>
          <a:bodyPr wrap="square" anchor="ctr" lIns="0" rIns="0" tIns="0" bIns="0">
            <a:spAutoFit/>
          </a:bodyPr>
          <a:lstStyle/>
          <a:p>
            <a:pPr algn="ctr">
              <a:spcAft>
                <a:spcPts val="0"/>
              </a:spcAft>
            </a:pPr>
            <a:r>
              <a:rPr sz="1300" b="1" i="0">
                <a:solidFill>
                  <a:srgbClr val="FFFFFF"/>
                </a:solidFill>
              </a:rPr>
              <a:t>Shared layer: destinations · heritage facts · stays · guides · transport · dishes · events · bookings · feedback</a:t>
            </a:r>
          </a:p>
        </p:txBody>
      </p:sp>
      <p:sp>
        <p:nvSpPr>
          <p:cNvPr id="30" name="TextBox 29"/>
          <p:cNvSpPr txBox="1"/>
          <p:nvPr/>
        </p:nvSpPr>
        <p:spPr>
          <a:xfrm>
            <a:off x="548640" y="4892040"/>
            <a:ext cx="11064240" cy="320040"/>
          </a:xfrm>
          <a:prstGeom prst="rect">
            <a:avLst/>
          </a:prstGeom>
          <a:noFill/>
        </p:spPr>
        <p:txBody>
          <a:bodyPr wrap="square" anchor="t" lIns="0" rIns="0" tIns="0" bIns="0">
            <a:spAutoFit/>
          </a:bodyPr>
          <a:lstStyle/>
          <a:p>
            <a:pPr algn="l">
              <a:spcAft>
                <a:spcPts val="0"/>
              </a:spcAft>
            </a:pPr>
            <a:r>
              <a:rPr sz="1300" b="1" i="0">
                <a:solidFill>
                  <a:srgbClr val="1B2A2F"/>
                </a:solidFill>
              </a:rPr>
              <a:t>The closed loop — the same record moves through every interface</a:t>
            </a:r>
          </a:p>
        </p:txBody>
      </p:sp>
      <p:sp>
        <p:nvSpPr>
          <p:cNvPr id="31" name="Pentagon 30"/>
          <p:cNvSpPr/>
          <p:nvPr/>
        </p:nvSpPr>
        <p:spPr>
          <a:xfrm>
            <a:off x="548640" y="5303520"/>
            <a:ext cx="1581912" cy="548640"/>
          </a:xfrm>
          <a:prstGeom prst="homePlate">
            <a:avLst/>
          </a:prstGeom>
          <a:solidFill>
            <a:srgbClr val="D3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303520"/>
            <a:ext cx="1216151" cy="548640"/>
          </a:xfrm>
          <a:prstGeom prst="rect">
            <a:avLst/>
          </a:prstGeom>
          <a:noFill/>
        </p:spPr>
        <p:txBody>
          <a:bodyPr wrap="square" anchor="ctr" lIns="0" rIns="0" tIns="0" bIns="0">
            <a:spAutoFit/>
          </a:bodyPr>
          <a:lstStyle/>
          <a:p>
            <a:pPr algn="ctr">
              <a:spcAft>
                <a:spcPts val="0"/>
              </a:spcAft>
            </a:pPr>
            <a:r>
              <a:rPr sz="1200" b="1" i="0">
                <a:solidFill>
                  <a:srgbClr val="0F5257"/>
                </a:solidFill>
              </a:rPr>
              <a:t>Promote</a:t>
            </a:r>
          </a:p>
        </p:txBody>
      </p:sp>
      <p:sp>
        <p:nvSpPr>
          <p:cNvPr id="33" name="Chevron 32"/>
          <p:cNvSpPr/>
          <p:nvPr/>
        </p:nvSpPr>
        <p:spPr>
          <a:xfrm>
            <a:off x="2144268" y="5303520"/>
            <a:ext cx="1581912" cy="548640"/>
          </a:xfrm>
          <a:prstGeom prst="chevron">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72868" y="5303520"/>
            <a:ext cx="1216151" cy="548640"/>
          </a:xfrm>
          <a:prstGeom prst="rect">
            <a:avLst/>
          </a:prstGeom>
          <a:noFill/>
        </p:spPr>
        <p:txBody>
          <a:bodyPr wrap="square" anchor="ctr" lIns="0" rIns="0" tIns="0" bIns="0">
            <a:spAutoFit/>
          </a:bodyPr>
          <a:lstStyle/>
          <a:p>
            <a:pPr algn="ctr">
              <a:spcAft>
                <a:spcPts val="0"/>
              </a:spcAft>
            </a:pPr>
            <a:r>
              <a:rPr sz="1200" b="1" i="0">
                <a:solidFill>
                  <a:srgbClr val="0F5257"/>
                </a:solidFill>
              </a:rPr>
              <a:t>Discover</a:t>
            </a:r>
          </a:p>
        </p:txBody>
      </p:sp>
      <p:sp>
        <p:nvSpPr>
          <p:cNvPr id="35" name="Chevron 34"/>
          <p:cNvSpPr/>
          <p:nvPr/>
        </p:nvSpPr>
        <p:spPr>
          <a:xfrm>
            <a:off x="3739896" y="5303520"/>
            <a:ext cx="1581912" cy="548640"/>
          </a:xfrm>
          <a:prstGeom prst="chevron">
            <a:avLst/>
          </a:prstGeom>
          <a:solidFill>
            <a:srgbClr val="D3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968496" y="5303520"/>
            <a:ext cx="1216151" cy="548640"/>
          </a:xfrm>
          <a:prstGeom prst="rect">
            <a:avLst/>
          </a:prstGeom>
          <a:noFill/>
        </p:spPr>
        <p:txBody>
          <a:bodyPr wrap="square" anchor="ctr" lIns="0" rIns="0" tIns="0" bIns="0">
            <a:spAutoFit/>
          </a:bodyPr>
          <a:lstStyle/>
          <a:p>
            <a:pPr algn="ctr">
              <a:spcAft>
                <a:spcPts val="0"/>
              </a:spcAft>
            </a:pPr>
            <a:r>
              <a:rPr sz="1200" b="1" i="0">
                <a:solidFill>
                  <a:srgbClr val="0F5257"/>
                </a:solidFill>
              </a:rPr>
              <a:t>Plan</a:t>
            </a:r>
          </a:p>
        </p:txBody>
      </p:sp>
      <p:sp>
        <p:nvSpPr>
          <p:cNvPr id="37" name="Chevron 36"/>
          <p:cNvSpPr/>
          <p:nvPr/>
        </p:nvSpPr>
        <p:spPr>
          <a:xfrm>
            <a:off x="5335523" y="5303520"/>
            <a:ext cx="1581912" cy="548640"/>
          </a:xfrm>
          <a:prstGeom prst="chevron">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64123" y="5303520"/>
            <a:ext cx="1216151" cy="548640"/>
          </a:xfrm>
          <a:prstGeom prst="rect">
            <a:avLst/>
          </a:prstGeom>
          <a:noFill/>
        </p:spPr>
        <p:txBody>
          <a:bodyPr wrap="square" anchor="ctr" lIns="0" rIns="0" tIns="0" bIns="0">
            <a:spAutoFit/>
          </a:bodyPr>
          <a:lstStyle/>
          <a:p>
            <a:pPr algn="ctr">
              <a:spcAft>
                <a:spcPts val="0"/>
              </a:spcAft>
            </a:pPr>
            <a:r>
              <a:rPr sz="1200" b="1" i="0">
                <a:solidFill>
                  <a:srgbClr val="0F5257"/>
                </a:solidFill>
              </a:rPr>
              <a:t>Book &amp; visit</a:t>
            </a:r>
          </a:p>
        </p:txBody>
      </p:sp>
      <p:sp>
        <p:nvSpPr>
          <p:cNvPr id="39" name="Chevron 38"/>
          <p:cNvSpPr/>
          <p:nvPr/>
        </p:nvSpPr>
        <p:spPr>
          <a:xfrm>
            <a:off x="6931151" y="5303520"/>
            <a:ext cx="1581912" cy="548640"/>
          </a:xfrm>
          <a:prstGeom prst="chevron">
            <a:avLst/>
          </a:prstGeom>
          <a:solidFill>
            <a:srgbClr val="D3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59751" y="5303520"/>
            <a:ext cx="1216151" cy="548640"/>
          </a:xfrm>
          <a:prstGeom prst="rect">
            <a:avLst/>
          </a:prstGeom>
          <a:noFill/>
        </p:spPr>
        <p:txBody>
          <a:bodyPr wrap="square" anchor="ctr" lIns="0" rIns="0" tIns="0" bIns="0">
            <a:spAutoFit/>
          </a:bodyPr>
          <a:lstStyle/>
          <a:p>
            <a:pPr algn="ctr">
              <a:spcAft>
                <a:spcPts val="0"/>
              </a:spcAft>
            </a:pPr>
            <a:r>
              <a:rPr sz="1200" b="1" i="0">
                <a:solidFill>
                  <a:srgbClr val="0F5257"/>
                </a:solidFill>
              </a:rPr>
              <a:t>Feedback</a:t>
            </a:r>
          </a:p>
        </p:txBody>
      </p:sp>
      <p:sp>
        <p:nvSpPr>
          <p:cNvPr id="41" name="Chevron 40"/>
          <p:cNvSpPr/>
          <p:nvPr/>
        </p:nvSpPr>
        <p:spPr>
          <a:xfrm>
            <a:off x="8526780" y="5303520"/>
            <a:ext cx="1581912" cy="548640"/>
          </a:xfrm>
          <a:prstGeom prst="chevron">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755380" y="5303520"/>
            <a:ext cx="1216151" cy="548640"/>
          </a:xfrm>
          <a:prstGeom prst="rect">
            <a:avLst/>
          </a:prstGeom>
          <a:noFill/>
        </p:spPr>
        <p:txBody>
          <a:bodyPr wrap="square" anchor="ctr" lIns="0" rIns="0" tIns="0" bIns="0">
            <a:spAutoFit/>
          </a:bodyPr>
          <a:lstStyle/>
          <a:p>
            <a:pPr algn="ctr">
              <a:spcAft>
                <a:spcPts val="0"/>
              </a:spcAft>
            </a:pPr>
            <a:r>
              <a:rPr sz="1200" b="1" i="0">
                <a:solidFill>
                  <a:srgbClr val="0F5257"/>
                </a:solidFill>
              </a:rPr>
              <a:t>Learn</a:t>
            </a:r>
          </a:p>
        </p:txBody>
      </p:sp>
      <p:sp>
        <p:nvSpPr>
          <p:cNvPr id="43" name="Chevron 42"/>
          <p:cNvSpPr/>
          <p:nvPr/>
        </p:nvSpPr>
        <p:spPr>
          <a:xfrm>
            <a:off x="10122407" y="5303520"/>
            <a:ext cx="1581912" cy="548640"/>
          </a:xfrm>
          <a:prstGeom prst="chevron">
            <a:avLst/>
          </a:prstGeom>
          <a:solidFill>
            <a:srgbClr val="D3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51007" y="5303520"/>
            <a:ext cx="1216151" cy="548640"/>
          </a:xfrm>
          <a:prstGeom prst="rect">
            <a:avLst/>
          </a:prstGeom>
          <a:noFill/>
        </p:spPr>
        <p:txBody>
          <a:bodyPr wrap="square" anchor="ctr" lIns="0" rIns="0" tIns="0" bIns="0">
            <a:spAutoFit/>
          </a:bodyPr>
          <a:lstStyle/>
          <a:p>
            <a:pPr algn="ctr">
              <a:spcAft>
                <a:spcPts val="0"/>
              </a:spcAft>
            </a:pPr>
            <a:r>
              <a:rPr sz="1200" b="1" i="0">
                <a:solidFill>
                  <a:srgbClr val="0F5257"/>
                </a:solidFill>
              </a:rPr>
              <a:t>Improve</a:t>
            </a:r>
          </a:p>
        </p:txBody>
      </p:sp>
      <p:sp>
        <p:nvSpPr>
          <p:cNvPr id="45" name="TextBox 44"/>
          <p:cNvSpPr txBox="1"/>
          <p:nvPr/>
        </p:nvSpPr>
        <p:spPr>
          <a:xfrm>
            <a:off x="548640" y="5989320"/>
            <a:ext cx="11064240" cy="320040"/>
          </a:xfrm>
          <a:prstGeom prst="rect">
            <a:avLst/>
          </a:prstGeom>
          <a:noFill/>
        </p:spPr>
        <p:txBody>
          <a:bodyPr wrap="square" anchor="t" lIns="0" rIns="0" tIns="0" bIns="0">
            <a:spAutoFit/>
          </a:bodyPr>
          <a:lstStyle/>
          <a:p>
            <a:pPr algn="l">
              <a:spcAft>
                <a:spcPts val="0"/>
              </a:spcAft>
            </a:pPr>
            <a:r>
              <a:rPr sz="1200" b="0" i="1">
                <a:solidFill>
                  <a:srgbClr val="5F6B6D"/>
                </a:solidFill>
              </a:rPr>
              <a:t>A tourist's check-in or feedback reaches the Department's dashboard in seconds — no export step in between.</a:t>
            </a:r>
          </a:p>
        </p:txBody>
      </p:sp>
    </p:spTree>
    <p:extLst>
      <p:ext uri="{BB962C8B-B14F-4D97-AF65-F5344CB8AC3E}">
        <p14:creationId xmlns:p14="http://schemas.microsoft.com/office/powerpoint/2010/main" val="40375552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05C93-41B5-C754-81DB-EE8531563F52}"/>
              </a:ext>
            </a:extLst>
          </p:cNvPr>
          <p:cNvSpPr>
            <a:spLocks noGrp="1"/>
          </p:cNvSpPr>
          <p:nvPr>
            <p:ph type="title"/>
          </p:nvPr>
        </p:nvSpPr>
        <p:spPr>
          <a:xfrm>
            <a:off x="548640" y="320040"/>
            <a:ext cx="11064240" cy="685800"/>
          </a:xfrm>
        </p:spPr>
        <p:txBody>
          <a:bodyPr wrap="square" anchor="t" lIns="0" rIns="0" tIns="0" bIns="0"/>
          <a:lstStyle/>
          <a:p>
            <a:pPr algn="l"/>
            <a:r>
              <a:rPr sz="3000" b="1">
                <a:solidFill>
                  <a:srgbClr val="1B2A2F"/>
                </a:solidFill>
                <a:latin typeface="Calibri"/>
              </a:rPr>
              <a:t>Technology &amp; Technical Approach</a:t>
            </a:r>
            <a:endParaRPr lang="en-IN" dirty="0"/>
          </a:p>
        </p:txBody>
      </p:sp>
      <p:sp>
        <p:nvSpPr>
          <p:cNvPr id="3" name="TextBox 2"/>
          <p:cNvSpPr txBox="1"/>
          <p:nvPr/>
        </p:nvSpPr>
        <p:spPr>
          <a:xfrm>
            <a:off x="548640" y="987552"/>
            <a:ext cx="11064240" cy="320040"/>
          </a:xfrm>
          <a:prstGeom prst="rect">
            <a:avLst/>
          </a:prstGeom>
          <a:noFill/>
        </p:spPr>
        <p:txBody>
          <a:bodyPr wrap="square" anchor="t" lIns="0" rIns="0" tIns="0" bIns="0">
            <a:spAutoFit/>
          </a:bodyPr>
          <a:lstStyle/>
          <a:p>
            <a:pPr algn="l">
              <a:spcAft>
                <a:spcPts val="0"/>
              </a:spcAft>
            </a:pPr>
            <a:r>
              <a:rPr sz="1400" b="0" i="1">
                <a:solidFill>
                  <a:srgbClr val="5F6B6D"/>
                </a:solidFill>
              </a:rPr>
              <a:t>Appropriate and effective use of technology</a:t>
            </a:r>
          </a:p>
        </p:txBody>
      </p:sp>
      <p:sp>
        <p:nvSpPr>
          <p:cNvPr id="4" name="Rounded Rectangle 3"/>
          <p:cNvSpPr/>
          <p:nvPr/>
        </p:nvSpPr>
        <p:spPr>
          <a:xfrm>
            <a:off x="548640" y="1481328"/>
            <a:ext cx="7498079" cy="749808"/>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81328"/>
            <a:ext cx="1463040" cy="749808"/>
          </a:xfrm>
          <a:prstGeom prst="rect">
            <a:avLst/>
          </a:prstGeom>
          <a:noFill/>
        </p:spPr>
        <p:txBody>
          <a:bodyPr wrap="square" anchor="ctr" lIns="0" rIns="0" tIns="0" bIns="0">
            <a:spAutoFit/>
          </a:bodyPr>
          <a:lstStyle/>
          <a:p>
            <a:pPr algn="l">
              <a:spcAft>
                <a:spcPts val="0"/>
              </a:spcAft>
            </a:pPr>
            <a:r>
              <a:rPr sz="1400" b="1" i="0">
                <a:solidFill>
                  <a:srgbClr val="0F5257"/>
                </a:solidFill>
              </a:rPr>
              <a:t>Experience</a:t>
            </a:r>
          </a:p>
        </p:txBody>
      </p:sp>
      <p:sp>
        <p:nvSpPr>
          <p:cNvPr id="6" name="TextBox 5"/>
          <p:cNvSpPr txBox="1"/>
          <p:nvPr/>
        </p:nvSpPr>
        <p:spPr>
          <a:xfrm>
            <a:off x="2286000" y="1481328"/>
            <a:ext cx="5577840" cy="749808"/>
          </a:xfrm>
          <a:prstGeom prst="rect">
            <a:avLst/>
          </a:prstGeom>
          <a:noFill/>
        </p:spPr>
        <p:txBody>
          <a:bodyPr wrap="square" anchor="ctr" lIns="0" rIns="0" tIns="0" bIns="0">
            <a:spAutoFit/>
          </a:bodyPr>
          <a:lstStyle/>
          <a:p>
            <a:pPr algn="l">
              <a:spcAft>
                <a:spcPts val="0"/>
              </a:spcAft>
            </a:pPr>
            <a:r>
              <a:rPr sz="1200" b="0" i="0">
                <a:solidFill>
                  <a:srgbClr val="1B2A2F"/>
                </a:solidFill>
              </a:rPr>
              <a:t>Desktop web  ·  Phone app (/m)  ·  Android APK (Capacitor)  ·  QR check-in</a:t>
            </a:r>
          </a:p>
        </p:txBody>
      </p:sp>
      <p:sp>
        <p:nvSpPr>
          <p:cNvPr id="7" name="Rounded Rectangle 6"/>
          <p:cNvSpPr/>
          <p:nvPr/>
        </p:nvSpPr>
        <p:spPr>
          <a:xfrm>
            <a:off x="548640" y="2359152"/>
            <a:ext cx="7498079" cy="749808"/>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359152"/>
            <a:ext cx="1463040" cy="749808"/>
          </a:xfrm>
          <a:prstGeom prst="rect">
            <a:avLst/>
          </a:prstGeom>
          <a:noFill/>
        </p:spPr>
        <p:txBody>
          <a:bodyPr wrap="square" anchor="ctr" lIns="0" rIns="0" tIns="0" bIns="0">
            <a:spAutoFit/>
          </a:bodyPr>
          <a:lstStyle/>
          <a:p>
            <a:pPr algn="l">
              <a:spcAft>
                <a:spcPts val="0"/>
              </a:spcAft>
            </a:pPr>
            <a:r>
              <a:rPr sz="1400" b="1" i="0">
                <a:solidFill>
                  <a:srgbClr val="0F5257"/>
                </a:solidFill>
              </a:rPr>
              <a:t>Application</a:t>
            </a:r>
          </a:p>
        </p:txBody>
      </p:sp>
      <p:sp>
        <p:nvSpPr>
          <p:cNvPr id="9" name="TextBox 8"/>
          <p:cNvSpPr txBox="1"/>
          <p:nvPr/>
        </p:nvSpPr>
        <p:spPr>
          <a:xfrm>
            <a:off x="2286000" y="2359152"/>
            <a:ext cx="5577840" cy="749808"/>
          </a:xfrm>
          <a:prstGeom prst="rect">
            <a:avLst/>
          </a:prstGeom>
          <a:noFill/>
        </p:spPr>
        <p:txBody>
          <a:bodyPr wrap="square" anchor="ctr" lIns="0" rIns="0" tIns="0" bIns="0">
            <a:spAutoFit/>
          </a:bodyPr>
          <a:lstStyle/>
          <a:p>
            <a:pPr algn="l">
              <a:spcAft>
                <a:spcPts val="0"/>
              </a:spcAft>
            </a:pPr>
            <a:r>
              <a:rPr sz="1200" b="0" i="0">
                <a:solidFill>
                  <a:srgbClr val="1B2A2F"/>
                </a:solidFill>
              </a:rPr>
              <a:t>Next.js 16 + React 19 + TypeScript  ·  server actions  ·  role-based access checked on the server</a:t>
            </a:r>
          </a:p>
        </p:txBody>
      </p:sp>
      <p:sp>
        <p:nvSpPr>
          <p:cNvPr id="10" name="Rounded Rectangle 9"/>
          <p:cNvSpPr/>
          <p:nvPr/>
        </p:nvSpPr>
        <p:spPr>
          <a:xfrm>
            <a:off x="548640" y="3236976"/>
            <a:ext cx="7498079" cy="749808"/>
          </a:xfrm>
          <a:prstGeom prst="roundRect">
            <a:avLst>
              <a:gd name="adj" fmla="val 8000"/>
            </a:avLst>
          </a:prstGeom>
          <a:solidFill>
            <a:srgbClr val="FB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236976"/>
            <a:ext cx="1463040" cy="749808"/>
          </a:xfrm>
          <a:prstGeom prst="rect">
            <a:avLst/>
          </a:prstGeom>
          <a:noFill/>
        </p:spPr>
        <p:txBody>
          <a:bodyPr wrap="square" anchor="ctr" lIns="0" rIns="0" tIns="0" bIns="0">
            <a:spAutoFit/>
          </a:bodyPr>
          <a:lstStyle/>
          <a:p>
            <a:pPr algn="l">
              <a:spcAft>
                <a:spcPts val="0"/>
              </a:spcAft>
            </a:pPr>
            <a:r>
              <a:rPr sz="1400" b="1" i="0">
                <a:solidFill>
                  <a:srgbClr val="C8385A"/>
                </a:solidFill>
              </a:rPr>
              <a:t>Intelligence</a:t>
            </a:r>
          </a:p>
        </p:txBody>
      </p:sp>
      <p:sp>
        <p:nvSpPr>
          <p:cNvPr id="12" name="TextBox 11"/>
          <p:cNvSpPr txBox="1"/>
          <p:nvPr/>
        </p:nvSpPr>
        <p:spPr>
          <a:xfrm>
            <a:off x="2286000" y="3236976"/>
            <a:ext cx="5577840" cy="749808"/>
          </a:xfrm>
          <a:prstGeom prst="rect">
            <a:avLst/>
          </a:prstGeom>
          <a:noFill/>
        </p:spPr>
        <p:txBody>
          <a:bodyPr wrap="square" anchor="ctr" lIns="0" rIns="0" tIns="0" bIns="0">
            <a:spAutoFit/>
          </a:bodyPr>
          <a:lstStyle/>
          <a:p>
            <a:pPr algn="l">
              <a:spcAft>
                <a:spcPts val="0"/>
              </a:spcAft>
            </a:pPr>
            <a:r>
              <a:rPr sz="1200" b="0" i="0">
                <a:solidFill>
                  <a:srgbClr val="1B2A2F"/>
                </a:solidFill>
              </a:rPr>
              <a:t>Deterministic analytics compute every figure  →  AI (Gemini / Claude / OpenAI) writes the narrative  →  figure check</a:t>
            </a:r>
          </a:p>
        </p:txBody>
      </p:sp>
      <p:sp>
        <p:nvSpPr>
          <p:cNvPr id="13" name="Rounded Rectangle 12"/>
          <p:cNvSpPr/>
          <p:nvPr/>
        </p:nvSpPr>
        <p:spPr>
          <a:xfrm>
            <a:off x="548640" y="4114800"/>
            <a:ext cx="7498079" cy="749808"/>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114800"/>
            <a:ext cx="1463040" cy="749808"/>
          </a:xfrm>
          <a:prstGeom prst="rect">
            <a:avLst/>
          </a:prstGeom>
          <a:noFill/>
        </p:spPr>
        <p:txBody>
          <a:bodyPr wrap="square" anchor="ctr" lIns="0" rIns="0" tIns="0" bIns="0">
            <a:spAutoFit/>
          </a:bodyPr>
          <a:lstStyle/>
          <a:p>
            <a:pPr algn="l">
              <a:spcAft>
                <a:spcPts val="0"/>
              </a:spcAft>
            </a:pPr>
            <a:r>
              <a:rPr sz="1400" b="1" i="0">
                <a:solidFill>
                  <a:srgbClr val="0F5257"/>
                </a:solidFill>
              </a:rPr>
              <a:t>Data</a:t>
            </a:r>
          </a:p>
        </p:txBody>
      </p:sp>
      <p:sp>
        <p:nvSpPr>
          <p:cNvPr id="15" name="TextBox 14"/>
          <p:cNvSpPr txBox="1"/>
          <p:nvPr/>
        </p:nvSpPr>
        <p:spPr>
          <a:xfrm>
            <a:off x="2286000" y="4114800"/>
            <a:ext cx="5577840" cy="749808"/>
          </a:xfrm>
          <a:prstGeom prst="rect">
            <a:avLst/>
          </a:prstGeom>
          <a:noFill/>
        </p:spPr>
        <p:txBody>
          <a:bodyPr wrap="square" anchor="ctr" lIns="0" rIns="0" tIns="0" bIns="0">
            <a:spAutoFit/>
          </a:bodyPr>
          <a:lstStyle/>
          <a:p>
            <a:pPr algn="l">
              <a:spcAft>
                <a:spcPts val="0"/>
              </a:spcAft>
            </a:pPr>
            <a:r>
              <a:rPr sz="1200" b="0" i="0">
                <a:solidFill>
                  <a:srgbClr val="1B2A2F"/>
                </a:solidFill>
              </a:rPr>
              <a:t>MySQL via Prisma  ·  Zod-validated tourism dataset  ·  7 provenance categories  ·  Postgres-ready</a:t>
            </a:r>
          </a:p>
        </p:txBody>
      </p:sp>
      <p:sp>
        <p:nvSpPr>
          <p:cNvPr id="16" name="Rounded Rectangle 15"/>
          <p:cNvSpPr/>
          <p:nvPr/>
        </p:nvSpPr>
        <p:spPr>
          <a:xfrm>
            <a:off x="548640" y="4992624"/>
            <a:ext cx="7498079" cy="749808"/>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92624"/>
            <a:ext cx="1463040" cy="749808"/>
          </a:xfrm>
          <a:prstGeom prst="rect">
            <a:avLst/>
          </a:prstGeom>
          <a:noFill/>
        </p:spPr>
        <p:txBody>
          <a:bodyPr wrap="square" anchor="ctr" lIns="0" rIns="0" tIns="0" bIns="0">
            <a:spAutoFit/>
          </a:bodyPr>
          <a:lstStyle/>
          <a:p>
            <a:pPr algn="l">
              <a:spcAft>
                <a:spcPts val="0"/>
              </a:spcAft>
            </a:pPr>
            <a:r>
              <a:rPr sz="1400" b="1" i="0">
                <a:solidFill>
                  <a:srgbClr val="0F5257"/>
                </a:solidFill>
              </a:rPr>
              <a:t>Services</a:t>
            </a:r>
          </a:p>
        </p:txBody>
      </p:sp>
      <p:sp>
        <p:nvSpPr>
          <p:cNvPr id="18" name="TextBox 17"/>
          <p:cNvSpPr txBox="1"/>
          <p:nvPr/>
        </p:nvSpPr>
        <p:spPr>
          <a:xfrm>
            <a:off x="2286000" y="4992624"/>
            <a:ext cx="5577840" cy="749808"/>
          </a:xfrm>
          <a:prstGeom prst="rect">
            <a:avLst/>
          </a:prstGeom>
          <a:noFill/>
        </p:spPr>
        <p:txBody>
          <a:bodyPr wrap="square" anchor="ctr" lIns="0" rIns="0" tIns="0" bIns="0">
            <a:spAutoFit/>
          </a:bodyPr>
          <a:lstStyle/>
          <a:p>
            <a:pPr algn="l">
              <a:spcAft>
                <a:spcPts val="0"/>
              </a:spcAft>
            </a:pPr>
            <a:r>
              <a:rPr sz="1200" b="0" i="0">
                <a:solidFill>
                  <a:srgbClr val="1B2A2F"/>
                </a:solidFill>
              </a:rPr>
              <a:t>MapLibre maps + OSRM road routing  ·  Razorpay UPI/cards  ·  speech: ASR → translate → TTS  ·  web grounding</a:t>
            </a:r>
          </a:p>
        </p:txBody>
      </p:sp>
      <p:sp>
        <p:nvSpPr>
          <p:cNvPr id="19" name="Rounded Rectangle 18"/>
          <p:cNvSpPr/>
          <p:nvPr/>
        </p:nvSpPr>
        <p:spPr>
          <a:xfrm>
            <a:off x="8321040" y="1481328"/>
            <a:ext cx="3319272" cy="4261104"/>
          </a:xfrm>
          <a:prstGeom prst="roundRect">
            <a:avLst>
              <a:gd name="adj" fmla="val 8000"/>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0" y="1645920"/>
            <a:ext cx="2834640" cy="548640"/>
          </a:xfrm>
          <a:prstGeom prst="rect">
            <a:avLst/>
          </a:prstGeom>
          <a:noFill/>
        </p:spPr>
        <p:txBody>
          <a:bodyPr wrap="square" anchor="t" lIns="0" rIns="0" tIns="0" bIns="0">
            <a:spAutoFit/>
          </a:bodyPr>
          <a:lstStyle/>
          <a:p>
            <a:pPr algn="l">
              <a:spcAft>
                <a:spcPts val="0"/>
              </a:spcAft>
            </a:pPr>
            <a:r>
              <a:rPr sz="3000" b="1" i="0">
                <a:solidFill>
                  <a:srgbClr val="FFFFFF"/>
                </a:solidFill>
              </a:rPr>
              <a:t>360+</a:t>
            </a:r>
          </a:p>
        </p:txBody>
      </p:sp>
      <p:sp>
        <p:nvSpPr>
          <p:cNvPr id="21" name="TextBox 20"/>
          <p:cNvSpPr txBox="1"/>
          <p:nvPr/>
        </p:nvSpPr>
        <p:spPr>
          <a:xfrm>
            <a:off x="8595360" y="2176272"/>
            <a:ext cx="2834640" cy="365760"/>
          </a:xfrm>
          <a:prstGeom prst="rect">
            <a:avLst/>
          </a:prstGeom>
          <a:noFill/>
        </p:spPr>
        <p:txBody>
          <a:bodyPr wrap="square" anchor="t" lIns="0" rIns="0" tIns="0" bIns="0">
            <a:spAutoFit/>
          </a:bodyPr>
          <a:lstStyle/>
          <a:p>
            <a:pPr algn="l">
              <a:spcAft>
                <a:spcPts val="0"/>
              </a:spcAft>
            </a:pPr>
            <a:r>
              <a:rPr sz="1200" b="0" i="0">
                <a:solidFill>
                  <a:srgbClr val="CFE3E0"/>
                </a:solidFill>
              </a:rPr>
              <a:t>automated tests</a:t>
            </a:r>
          </a:p>
        </p:txBody>
      </p:sp>
      <p:sp>
        <p:nvSpPr>
          <p:cNvPr id="22" name="TextBox 21"/>
          <p:cNvSpPr txBox="1"/>
          <p:nvPr/>
        </p:nvSpPr>
        <p:spPr>
          <a:xfrm>
            <a:off x="8595360" y="2651760"/>
            <a:ext cx="2834640" cy="548640"/>
          </a:xfrm>
          <a:prstGeom prst="rect">
            <a:avLst/>
          </a:prstGeom>
          <a:noFill/>
        </p:spPr>
        <p:txBody>
          <a:bodyPr wrap="square" anchor="t" lIns="0" rIns="0" tIns="0" bIns="0">
            <a:spAutoFit/>
          </a:bodyPr>
          <a:lstStyle/>
          <a:p>
            <a:pPr algn="l">
              <a:spcAft>
                <a:spcPts val="0"/>
              </a:spcAft>
            </a:pPr>
            <a:r>
              <a:rPr sz="3000" b="1" i="0">
                <a:solidFill>
                  <a:srgbClr val="FFFFFF"/>
                </a:solidFill>
              </a:rPr>
              <a:t>33</a:t>
            </a:r>
          </a:p>
        </p:txBody>
      </p:sp>
      <p:sp>
        <p:nvSpPr>
          <p:cNvPr id="23" name="TextBox 22"/>
          <p:cNvSpPr txBox="1"/>
          <p:nvPr/>
        </p:nvSpPr>
        <p:spPr>
          <a:xfrm>
            <a:off x="8595360" y="3182112"/>
            <a:ext cx="2834640" cy="365760"/>
          </a:xfrm>
          <a:prstGeom prst="rect">
            <a:avLst/>
          </a:prstGeom>
          <a:noFill/>
        </p:spPr>
        <p:txBody>
          <a:bodyPr wrap="square" anchor="t" lIns="0" rIns="0" tIns="0" bIns="0">
            <a:spAutoFit/>
          </a:bodyPr>
          <a:lstStyle/>
          <a:p>
            <a:pPr algn="l">
              <a:spcAft>
                <a:spcPts val="0"/>
              </a:spcAft>
            </a:pPr>
            <a:r>
              <a:rPr sz="1200" b="0" i="0">
                <a:solidFill>
                  <a:srgbClr val="CFE3E0"/>
                </a:solidFill>
              </a:rPr>
              <a:t>routes across 4 interfaces</a:t>
            </a:r>
          </a:p>
        </p:txBody>
      </p:sp>
      <p:sp>
        <p:nvSpPr>
          <p:cNvPr id="24" name="TextBox 23"/>
          <p:cNvSpPr txBox="1"/>
          <p:nvPr/>
        </p:nvSpPr>
        <p:spPr>
          <a:xfrm>
            <a:off x="8595360" y="3657600"/>
            <a:ext cx="2834640" cy="548640"/>
          </a:xfrm>
          <a:prstGeom prst="rect">
            <a:avLst/>
          </a:prstGeom>
          <a:noFill/>
        </p:spPr>
        <p:txBody>
          <a:bodyPr wrap="square" anchor="t" lIns="0" rIns="0" tIns="0" bIns="0">
            <a:spAutoFit/>
          </a:bodyPr>
          <a:lstStyle/>
          <a:p>
            <a:pPr algn="l">
              <a:spcAft>
                <a:spcPts val="0"/>
              </a:spcAft>
            </a:pPr>
            <a:r>
              <a:rPr sz="3000" b="1" i="0">
                <a:solidFill>
                  <a:srgbClr val="FFFFFF"/>
                </a:solidFill>
              </a:rPr>
              <a:t>7,376</a:t>
            </a:r>
          </a:p>
        </p:txBody>
      </p:sp>
      <p:sp>
        <p:nvSpPr>
          <p:cNvPr id="25" name="TextBox 24"/>
          <p:cNvSpPr txBox="1"/>
          <p:nvPr/>
        </p:nvSpPr>
        <p:spPr>
          <a:xfrm>
            <a:off x="8595360" y="4187952"/>
            <a:ext cx="2834640" cy="365760"/>
          </a:xfrm>
          <a:prstGeom prst="rect">
            <a:avLst/>
          </a:prstGeom>
          <a:noFill/>
        </p:spPr>
        <p:txBody>
          <a:bodyPr wrap="square" anchor="t" lIns="0" rIns="0" tIns="0" bIns="0">
            <a:spAutoFit/>
          </a:bodyPr>
          <a:lstStyle/>
          <a:p>
            <a:pPr algn="l">
              <a:spcAft>
                <a:spcPts val="0"/>
              </a:spcAft>
            </a:pPr>
            <a:r>
              <a:rPr sz="1200" b="0" i="0">
                <a:solidFill>
                  <a:srgbClr val="CFE3E0"/>
                </a:solidFill>
              </a:rPr>
              <a:t>seeded tourism records, 16 districts</a:t>
            </a:r>
          </a:p>
        </p:txBody>
      </p:sp>
      <p:sp>
        <p:nvSpPr>
          <p:cNvPr id="26" name="TextBox 25"/>
          <p:cNvSpPr txBox="1"/>
          <p:nvPr/>
        </p:nvSpPr>
        <p:spPr>
          <a:xfrm>
            <a:off x="8595360" y="4663440"/>
            <a:ext cx="2834640" cy="548640"/>
          </a:xfrm>
          <a:prstGeom prst="rect">
            <a:avLst/>
          </a:prstGeom>
          <a:noFill/>
        </p:spPr>
        <p:txBody>
          <a:bodyPr wrap="square" anchor="t" lIns="0" rIns="0" tIns="0" bIns="0">
            <a:spAutoFit/>
          </a:bodyPr>
          <a:lstStyle/>
          <a:p>
            <a:pPr algn="l">
              <a:spcAft>
                <a:spcPts val="0"/>
              </a:spcAft>
            </a:pPr>
            <a:r>
              <a:rPr sz="3000" b="1" i="0">
                <a:solidFill>
                  <a:srgbClr val="FFFFFF"/>
                </a:solidFill>
              </a:rPr>
              <a:t>0</a:t>
            </a:r>
          </a:p>
        </p:txBody>
      </p:sp>
      <p:sp>
        <p:nvSpPr>
          <p:cNvPr id="27" name="TextBox 26"/>
          <p:cNvSpPr txBox="1"/>
          <p:nvPr/>
        </p:nvSpPr>
        <p:spPr>
          <a:xfrm>
            <a:off x="8595360" y="5193792"/>
            <a:ext cx="2834640" cy="365760"/>
          </a:xfrm>
          <a:prstGeom prst="rect">
            <a:avLst/>
          </a:prstGeom>
          <a:noFill/>
        </p:spPr>
        <p:txBody>
          <a:bodyPr wrap="square" anchor="t" lIns="0" rIns="0" tIns="0" bIns="0">
            <a:spAutoFit/>
          </a:bodyPr>
          <a:lstStyle/>
          <a:p>
            <a:pPr algn="l">
              <a:spcAft>
                <a:spcPts val="0"/>
              </a:spcAft>
            </a:pPr>
            <a:r>
              <a:rPr sz="1200" b="0" i="0">
                <a:solidFill>
                  <a:srgbClr val="CFE3E0"/>
                </a:solidFill>
              </a:rPr>
              <a:t>API keys needed to run the demo offline</a:t>
            </a:r>
          </a:p>
        </p:txBody>
      </p:sp>
      <p:sp>
        <p:nvSpPr>
          <p:cNvPr id="28" name="TextBox 27"/>
          <p:cNvSpPr txBox="1"/>
          <p:nvPr/>
        </p:nvSpPr>
        <p:spPr>
          <a:xfrm>
            <a:off x="548640" y="5943600"/>
            <a:ext cx="11064240" cy="365760"/>
          </a:xfrm>
          <a:prstGeom prst="rect">
            <a:avLst/>
          </a:prstGeom>
          <a:noFill/>
        </p:spPr>
        <p:txBody>
          <a:bodyPr wrap="square" anchor="t" lIns="0" rIns="0" tIns="0" bIns="0">
            <a:spAutoFit/>
          </a:bodyPr>
          <a:lstStyle/>
          <a:p>
            <a:pPr algn="l">
              <a:spcAft>
                <a:spcPts val="0"/>
              </a:spcAft>
            </a:pPr>
            <a:r>
              <a:rPr sz="1200" b="0" i="1">
                <a:solidFill>
                  <a:srgbClr val="5F6B6D"/>
                </a:solidFill>
              </a:rPr>
              <a:t>Hosted on Vercel (Mumbai region). Keys stay on the server — never in the browser or the APK.</a:t>
            </a:r>
          </a:p>
        </p:txBody>
      </p:sp>
    </p:spTree>
    <p:extLst>
      <p:ext uri="{BB962C8B-B14F-4D97-AF65-F5344CB8AC3E}">
        <p14:creationId xmlns:p14="http://schemas.microsoft.com/office/powerpoint/2010/main" val="2001526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FBAE4-0E08-D233-F60D-E3B0C084E919}"/>
              </a:ext>
            </a:extLst>
          </p:cNvPr>
          <p:cNvSpPr>
            <a:spLocks noGrp="1"/>
          </p:cNvSpPr>
          <p:nvPr>
            <p:ph type="title"/>
          </p:nvPr>
        </p:nvSpPr>
        <p:spPr>
          <a:xfrm>
            <a:off x="548640" y="320040"/>
            <a:ext cx="11064240" cy="685800"/>
          </a:xfrm>
        </p:spPr>
        <p:txBody>
          <a:bodyPr wrap="square" anchor="t" lIns="0" rIns="0" tIns="0" bIns="0"/>
          <a:lstStyle/>
          <a:p>
            <a:pPr algn="l"/>
            <a:r>
              <a:rPr sz="3000" b="1">
                <a:solidFill>
                  <a:srgbClr val="1B2A2F"/>
                </a:solidFill>
                <a:latin typeface="Calibri"/>
              </a:rPr>
              <a:t>Impact on Tourism</a:t>
            </a:r>
            <a:endParaRPr lang="en-IN" dirty="0"/>
          </a:p>
        </p:txBody>
      </p:sp>
      <p:sp>
        <p:nvSpPr>
          <p:cNvPr id="3" name="TextBox 2"/>
          <p:cNvSpPr txBox="1"/>
          <p:nvPr/>
        </p:nvSpPr>
        <p:spPr>
          <a:xfrm>
            <a:off x="548640" y="987552"/>
            <a:ext cx="11064240" cy="320040"/>
          </a:xfrm>
          <a:prstGeom prst="rect">
            <a:avLst/>
          </a:prstGeom>
          <a:noFill/>
        </p:spPr>
        <p:txBody>
          <a:bodyPr wrap="square" anchor="t" lIns="0" rIns="0" tIns="0" bIns="0">
            <a:spAutoFit/>
          </a:bodyPr>
          <a:lstStyle/>
          <a:p>
            <a:pPr algn="l">
              <a:spcAft>
                <a:spcPts val="0"/>
              </a:spcAft>
            </a:pPr>
            <a:r>
              <a:rPr sz="1400" b="0" i="1">
                <a:solidFill>
                  <a:srgbClr val="5F6B6D"/>
                </a:solidFill>
              </a:rPr>
              <a:t>Better visitor experience, wider destination promotion, and income that reaches local hands</a:t>
            </a:r>
          </a:p>
        </p:txBody>
      </p:sp>
      <p:sp>
        <p:nvSpPr>
          <p:cNvPr id="4" name="Rounded Rectangle 3"/>
          <p:cNvSpPr/>
          <p:nvPr/>
        </p:nvSpPr>
        <p:spPr>
          <a:xfrm>
            <a:off x="548640" y="1481328"/>
            <a:ext cx="2624328" cy="2788920"/>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691640"/>
            <a:ext cx="548640" cy="548640"/>
          </a:xfrm>
          <a:prstGeom prst="ellipse">
            <a:avLst/>
          </a:prstGeom>
          <a:solidFill>
            <a:srgbClr val="C8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er-w.png"/>
          <p:cNvPicPr>
            <a:picLocks noChangeAspect="1"/>
          </p:cNvPicPr>
          <p:nvPr/>
        </p:nvPicPr>
        <p:blipFill>
          <a:blip r:embed="rId2"/>
          <a:stretch>
            <a:fillRect/>
          </a:stretch>
        </p:blipFill>
        <p:spPr>
          <a:xfrm>
            <a:off x="914400" y="1828800"/>
            <a:ext cx="274320" cy="274320"/>
          </a:xfrm>
          <a:prstGeom prst="rect">
            <a:avLst/>
          </a:prstGeom>
        </p:spPr>
      </p:pic>
      <p:sp>
        <p:nvSpPr>
          <p:cNvPr id="7" name="TextBox 6"/>
          <p:cNvSpPr txBox="1"/>
          <p:nvPr/>
        </p:nvSpPr>
        <p:spPr>
          <a:xfrm>
            <a:off x="777240" y="2331720"/>
            <a:ext cx="2167128" cy="365760"/>
          </a:xfrm>
          <a:prstGeom prst="rect">
            <a:avLst/>
          </a:prstGeom>
          <a:noFill/>
        </p:spPr>
        <p:txBody>
          <a:bodyPr wrap="square" anchor="t" lIns="0" rIns="0" tIns="0" bIns="0">
            <a:spAutoFit/>
          </a:bodyPr>
          <a:lstStyle/>
          <a:p>
            <a:pPr algn="l">
              <a:spcAft>
                <a:spcPts val="0"/>
              </a:spcAft>
            </a:pPr>
            <a:r>
              <a:rPr sz="1600" b="1" i="0">
                <a:solidFill>
                  <a:srgbClr val="0F5257"/>
                </a:solidFill>
              </a:rPr>
              <a:t>Tourists</a:t>
            </a:r>
          </a:p>
        </p:txBody>
      </p:sp>
      <p:sp>
        <p:nvSpPr>
          <p:cNvPr id="8" name="TextBox 7"/>
          <p:cNvSpPr txBox="1"/>
          <p:nvPr/>
        </p:nvSpPr>
        <p:spPr>
          <a:xfrm>
            <a:off x="777240" y="2743200"/>
            <a:ext cx="2212848" cy="1463040"/>
          </a:xfrm>
          <a:prstGeom prst="rect">
            <a:avLst/>
          </a:prstGeom>
          <a:noFill/>
        </p:spPr>
        <p:txBody>
          <a:bodyPr wrap="square" anchor="t" lIns="0" rIns="0" tIns="0" bIns="0">
            <a:spAutoFit/>
          </a:bodyPr>
          <a:lstStyle/>
          <a:p>
            <a:pPr algn="l" marL="164592" indent="-164592">
              <a:spcAft>
                <a:spcPts val="600"/>
              </a:spcAft>
              <a:buChar char="•"/>
            </a:pPr>
            <a:r>
              <a:rPr sz="1200" b="0" i="0">
                <a:solidFill>
                  <a:srgbClr val="1B2A2F"/>
                </a:solidFill>
              </a:rPr>
              <a:t>A personal, costed trip from one conversation</a:t>
            </a:r>
          </a:p>
          <a:p>
            <a:pPr algn="l" marL="164592" indent="-164592">
              <a:spcAft>
                <a:spcPts val="600"/>
              </a:spcAft>
              <a:buChar char="•"/>
            </a:pPr>
            <a:r>
              <a:rPr sz="1200" b="0" i="0">
                <a:solidFill>
                  <a:srgbClr val="1B2A2F"/>
                </a:solidFill>
              </a:rPr>
              <a:t>Book local stays, events and guides in one place</a:t>
            </a:r>
          </a:p>
          <a:p>
            <a:pPr algn="l" marL="164592" indent="-164592">
              <a:spcAft>
                <a:spcPts val="600"/>
              </a:spcAft>
              <a:buChar char="•"/>
            </a:pPr>
            <a:r>
              <a:rPr sz="1200" b="0" i="0">
                <a:solidFill>
                  <a:srgbClr val="1B2A2F"/>
                </a:solidFill>
              </a:rPr>
              <a:t>Emergency help and a Manipuri interpreter in the pocket</a:t>
            </a:r>
          </a:p>
        </p:txBody>
      </p:sp>
      <p:sp>
        <p:nvSpPr>
          <p:cNvPr id="9" name="Rounded Rectangle 8"/>
          <p:cNvSpPr/>
          <p:nvPr/>
        </p:nvSpPr>
        <p:spPr>
          <a:xfrm>
            <a:off x="3364992" y="1481328"/>
            <a:ext cx="2624328" cy="2788920"/>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93592" y="1691640"/>
            <a:ext cx="548640" cy="548640"/>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ome-w.png"/>
          <p:cNvPicPr>
            <a:picLocks noChangeAspect="1"/>
          </p:cNvPicPr>
          <p:nvPr/>
        </p:nvPicPr>
        <p:blipFill>
          <a:blip r:embed="rId3"/>
          <a:stretch>
            <a:fillRect/>
          </a:stretch>
        </p:blipFill>
        <p:spPr>
          <a:xfrm>
            <a:off x="3730752" y="1828800"/>
            <a:ext cx="274320" cy="274320"/>
          </a:xfrm>
          <a:prstGeom prst="rect">
            <a:avLst/>
          </a:prstGeom>
        </p:spPr>
      </p:pic>
      <p:sp>
        <p:nvSpPr>
          <p:cNvPr id="12" name="TextBox 11"/>
          <p:cNvSpPr txBox="1"/>
          <p:nvPr/>
        </p:nvSpPr>
        <p:spPr>
          <a:xfrm>
            <a:off x="3593592" y="2331720"/>
            <a:ext cx="2167128" cy="365760"/>
          </a:xfrm>
          <a:prstGeom prst="rect">
            <a:avLst/>
          </a:prstGeom>
          <a:noFill/>
        </p:spPr>
        <p:txBody>
          <a:bodyPr wrap="square" anchor="t" lIns="0" rIns="0" tIns="0" bIns="0">
            <a:spAutoFit/>
          </a:bodyPr>
          <a:lstStyle/>
          <a:p>
            <a:pPr algn="l">
              <a:spcAft>
                <a:spcPts val="0"/>
              </a:spcAft>
            </a:pPr>
            <a:r>
              <a:rPr sz="1600" b="1" i="0">
                <a:solidFill>
                  <a:srgbClr val="0F5257"/>
                </a:solidFill>
              </a:rPr>
              <a:t>Local hosts &amp; artisans</a:t>
            </a:r>
          </a:p>
        </p:txBody>
      </p:sp>
      <p:sp>
        <p:nvSpPr>
          <p:cNvPr id="13" name="TextBox 12"/>
          <p:cNvSpPr txBox="1"/>
          <p:nvPr/>
        </p:nvSpPr>
        <p:spPr>
          <a:xfrm>
            <a:off x="3593592" y="2743200"/>
            <a:ext cx="2212848" cy="1463040"/>
          </a:xfrm>
          <a:prstGeom prst="rect">
            <a:avLst/>
          </a:prstGeom>
          <a:noFill/>
        </p:spPr>
        <p:txBody>
          <a:bodyPr wrap="square" anchor="t" lIns="0" rIns="0" tIns="0" bIns="0">
            <a:spAutoFit/>
          </a:bodyPr>
          <a:lstStyle/>
          <a:p>
            <a:pPr algn="l" marL="164592" indent="-164592">
              <a:spcAft>
                <a:spcPts val="600"/>
              </a:spcAft>
              <a:buChar char="•"/>
            </a:pPr>
            <a:r>
              <a:rPr sz="1200" b="0" i="0">
                <a:solidFill>
                  <a:srgbClr val="1B2A2F"/>
                </a:solidFill>
              </a:rPr>
              <a:t>Direct bookings and UPI payments, no middlemen</a:t>
            </a:r>
          </a:p>
          <a:p>
            <a:pPr algn="l" marL="164592" indent="-164592">
              <a:spcAft>
                <a:spcPts val="600"/>
              </a:spcAft>
              <a:buChar char="•"/>
            </a:pPr>
            <a:r>
              <a:rPr sz="1200" b="0" i="0">
                <a:solidFill>
                  <a:srgbClr val="1B2A2F"/>
                </a:solidFill>
              </a:rPr>
              <a:t>A verified badge and a shareable page with QR</a:t>
            </a:r>
          </a:p>
          <a:p>
            <a:pPr algn="l" marL="164592" indent="-164592">
              <a:spcAft>
                <a:spcPts val="600"/>
              </a:spcAft>
              <a:buChar char="•"/>
            </a:pPr>
            <a:r>
              <a:rPr sz="1200" b="0" i="0">
                <a:solidFill>
                  <a:srgbClr val="1B2A2F"/>
                </a:solidFill>
              </a:rPr>
              <a:t>Dishes, crafts and homestays get discovered</a:t>
            </a:r>
          </a:p>
        </p:txBody>
      </p:sp>
      <p:sp>
        <p:nvSpPr>
          <p:cNvPr id="14" name="Rounded Rectangle 13"/>
          <p:cNvSpPr/>
          <p:nvPr/>
        </p:nvSpPr>
        <p:spPr>
          <a:xfrm>
            <a:off x="6181344" y="1481328"/>
            <a:ext cx="2624328" cy="2788920"/>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9944" y="1691640"/>
            <a:ext cx="548640" cy="548640"/>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amera-w.png"/>
          <p:cNvPicPr>
            <a:picLocks noChangeAspect="1"/>
          </p:cNvPicPr>
          <p:nvPr/>
        </p:nvPicPr>
        <p:blipFill>
          <a:blip r:embed="rId4"/>
          <a:stretch>
            <a:fillRect/>
          </a:stretch>
        </p:blipFill>
        <p:spPr>
          <a:xfrm>
            <a:off x="6547104" y="1828800"/>
            <a:ext cx="274320" cy="274320"/>
          </a:xfrm>
          <a:prstGeom prst="rect">
            <a:avLst/>
          </a:prstGeom>
        </p:spPr>
      </p:pic>
      <p:sp>
        <p:nvSpPr>
          <p:cNvPr id="17" name="TextBox 16"/>
          <p:cNvSpPr txBox="1"/>
          <p:nvPr/>
        </p:nvSpPr>
        <p:spPr>
          <a:xfrm>
            <a:off x="6409944" y="2331720"/>
            <a:ext cx="2167128" cy="365760"/>
          </a:xfrm>
          <a:prstGeom prst="rect">
            <a:avLst/>
          </a:prstGeom>
          <a:noFill/>
        </p:spPr>
        <p:txBody>
          <a:bodyPr wrap="square" anchor="t" lIns="0" rIns="0" tIns="0" bIns="0">
            <a:spAutoFit/>
          </a:bodyPr>
          <a:lstStyle/>
          <a:p>
            <a:pPr algn="l">
              <a:spcAft>
                <a:spcPts val="0"/>
              </a:spcAft>
            </a:pPr>
            <a:r>
              <a:rPr sz="1600" b="1" i="0">
                <a:solidFill>
                  <a:srgbClr val="0F5257"/>
                </a:solidFill>
              </a:rPr>
              <a:t>Creators</a:t>
            </a:r>
          </a:p>
        </p:txBody>
      </p:sp>
      <p:sp>
        <p:nvSpPr>
          <p:cNvPr id="18" name="TextBox 17"/>
          <p:cNvSpPr txBox="1"/>
          <p:nvPr/>
        </p:nvSpPr>
        <p:spPr>
          <a:xfrm>
            <a:off x="6409944" y="2743200"/>
            <a:ext cx="2212848" cy="1463040"/>
          </a:xfrm>
          <a:prstGeom prst="rect">
            <a:avLst/>
          </a:prstGeom>
          <a:noFill/>
        </p:spPr>
        <p:txBody>
          <a:bodyPr wrap="square" anchor="t" lIns="0" rIns="0" tIns="0" bIns="0">
            <a:spAutoFit/>
          </a:bodyPr>
          <a:lstStyle/>
          <a:p>
            <a:pPr algn="l" marL="164592" indent="-164592">
              <a:spcAft>
                <a:spcPts val="600"/>
              </a:spcAft>
              <a:buChar char="•"/>
            </a:pPr>
            <a:r>
              <a:rPr sz="1200" b="0" i="0">
                <a:solidFill>
                  <a:srgbClr val="1B2A2F"/>
                </a:solidFill>
              </a:rPr>
              <a:t>Paid Department campaigns</a:t>
            </a:r>
          </a:p>
          <a:p>
            <a:pPr algn="l" marL="164592" indent="-164592">
              <a:spcAft>
                <a:spcPts val="600"/>
              </a:spcAft>
              <a:buChar char="•"/>
            </a:pPr>
            <a:r>
              <a:rPr sz="1200" b="0" i="0">
                <a:solidFill>
                  <a:srgbClr val="1B2A2F"/>
                </a:solidFill>
              </a:rPr>
              <a:t>AI briefs grounded in verified facts</a:t>
            </a:r>
          </a:p>
          <a:p>
            <a:pPr algn="l" marL="164592" indent="-164592">
              <a:spcAft>
                <a:spcPts val="600"/>
              </a:spcAft>
              <a:buChar char="•"/>
            </a:pPr>
            <a:r>
              <a:rPr sz="1200" b="0" i="0">
                <a:solidFill>
                  <a:srgbClr val="1B2A2F"/>
                </a:solidFill>
              </a:rPr>
              <a:t>Credit tied to real visits, not just views</a:t>
            </a:r>
          </a:p>
        </p:txBody>
      </p:sp>
      <p:sp>
        <p:nvSpPr>
          <p:cNvPr id="19" name="Rounded Rectangle 18"/>
          <p:cNvSpPr/>
          <p:nvPr/>
        </p:nvSpPr>
        <p:spPr>
          <a:xfrm>
            <a:off x="8997696" y="1481328"/>
            <a:ext cx="2624328" cy="2788920"/>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26296" y="1691640"/>
            <a:ext cx="548640" cy="548640"/>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art-w.png"/>
          <p:cNvPicPr>
            <a:picLocks noChangeAspect="1"/>
          </p:cNvPicPr>
          <p:nvPr/>
        </p:nvPicPr>
        <p:blipFill>
          <a:blip r:embed="rId5"/>
          <a:stretch>
            <a:fillRect/>
          </a:stretch>
        </p:blipFill>
        <p:spPr>
          <a:xfrm>
            <a:off x="9363456" y="1828800"/>
            <a:ext cx="274320" cy="274320"/>
          </a:xfrm>
          <a:prstGeom prst="rect">
            <a:avLst/>
          </a:prstGeom>
        </p:spPr>
      </p:pic>
      <p:sp>
        <p:nvSpPr>
          <p:cNvPr id="22" name="TextBox 21"/>
          <p:cNvSpPr txBox="1"/>
          <p:nvPr/>
        </p:nvSpPr>
        <p:spPr>
          <a:xfrm>
            <a:off x="9226296" y="2331720"/>
            <a:ext cx="2167128" cy="365760"/>
          </a:xfrm>
          <a:prstGeom prst="rect">
            <a:avLst/>
          </a:prstGeom>
          <a:noFill/>
        </p:spPr>
        <p:txBody>
          <a:bodyPr wrap="square" anchor="t" lIns="0" rIns="0" tIns="0" bIns="0">
            <a:spAutoFit/>
          </a:bodyPr>
          <a:lstStyle/>
          <a:p>
            <a:pPr algn="l">
              <a:spcAft>
                <a:spcPts val="0"/>
              </a:spcAft>
            </a:pPr>
            <a:r>
              <a:rPr sz="1600" b="1" i="0">
                <a:solidFill>
                  <a:srgbClr val="0F5257"/>
                </a:solidFill>
              </a:rPr>
              <a:t>Tourism Department</a:t>
            </a:r>
          </a:p>
        </p:txBody>
      </p:sp>
      <p:sp>
        <p:nvSpPr>
          <p:cNvPr id="23" name="TextBox 22"/>
          <p:cNvSpPr txBox="1"/>
          <p:nvPr/>
        </p:nvSpPr>
        <p:spPr>
          <a:xfrm>
            <a:off x="9226296" y="2743200"/>
            <a:ext cx="2212848" cy="1463040"/>
          </a:xfrm>
          <a:prstGeom prst="rect">
            <a:avLst/>
          </a:prstGeom>
          <a:noFill/>
        </p:spPr>
        <p:txBody>
          <a:bodyPr wrap="square" anchor="t" lIns="0" rIns="0" tIns="0" bIns="0">
            <a:spAutoFit/>
          </a:bodyPr>
          <a:lstStyle/>
          <a:p>
            <a:pPr algn="l" marL="164592" indent="-164592">
              <a:spcAft>
                <a:spcPts val="600"/>
              </a:spcAft>
              <a:buChar char="•"/>
            </a:pPr>
            <a:r>
              <a:rPr sz="1200" b="0" i="0">
                <a:solidFill>
                  <a:srgbClr val="1B2A2F"/>
                </a:solidFill>
              </a:rPr>
              <a:t>Live pulse from check-ins, bookings, feedback</a:t>
            </a:r>
          </a:p>
          <a:p>
            <a:pPr algn="l" marL="164592" indent="-164592">
              <a:spcAft>
                <a:spcPts val="600"/>
              </a:spcAft>
              <a:buChar char="•"/>
            </a:pPr>
            <a:r>
              <a:rPr sz="1200" b="0" i="0">
                <a:solidFill>
                  <a:srgbClr val="1B2A2F"/>
                </a:solidFill>
              </a:rPr>
              <a:t>Spot issues and crowding early</a:t>
            </a:r>
          </a:p>
          <a:p>
            <a:pPr algn="l" marL="164592" indent="-164592">
              <a:spcAft>
                <a:spcPts val="600"/>
              </a:spcAft>
              <a:buChar char="•"/>
            </a:pPr>
            <a:r>
              <a:rPr sz="1200" b="0" i="0">
                <a:solidFill>
                  <a:srgbClr val="1B2A2F"/>
                </a:solidFill>
              </a:rPr>
              <a:t>Promote quieter districts with evidence</a:t>
            </a:r>
          </a:p>
        </p:txBody>
      </p:sp>
      <p:pic>
        <p:nvPicPr>
          <p:cNvPr id="24" name="Picture 23" descr="dest-ukhrul.jpg"/>
          <p:cNvPicPr>
            <a:picLocks noChangeAspect="1"/>
          </p:cNvPicPr>
          <p:nvPr/>
        </p:nvPicPr>
        <p:blipFill>
          <a:blip r:embed="rId6"/>
          <a:srcRect t="15299" b="15299"/>
          <a:stretch>
            <a:fillRect/>
          </a:stretch>
        </p:blipFill>
        <p:spPr>
          <a:xfrm>
            <a:off x="548640" y="4453128"/>
            <a:ext cx="3657600" cy="1691640"/>
          </a:xfrm>
          <a:prstGeom prst="rect">
            <a:avLst/>
          </a:prstGeom>
        </p:spPr>
      </p:pic>
      <p:sp>
        <p:nvSpPr>
          <p:cNvPr id="25" name="TextBox 24"/>
          <p:cNvSpPr txBox="1"/>
          <p:nvPr/>
        </p:nvSpPr>
        <p:spPr>
          <a:xfrm>
            <a:off x="548640" y="6163056"/>
            <a:ext cx="3657600" cy="201168"/>
          </a:xfrm>
          <a:prstGeom prst="rect">
            <a:avLst/>
          </a:prstGeom>
          <a:noFill/>
        </p:spPr>
        <p:txBody>
          <a:bodyPr wrap="square" anchor="t" lIns="0" rIns="0" tIns="0" bIns="0">
            <a:spAutoFit/>
          </a:bodyPr>
          <a:lstStyle/>
          <a:p>
            <a:pPr algn="l">
              <a:spcAft>
                <a:spcPts val="0"/>
              </a:spcAft>
            </a:pPr>
            <a:r>
              <a:rPr sz="800" b="0" i="0">
                <a:solidFill>
                  <a:srgbClr val="5F6B6D"/>
                </a:solidFill>
              </a:rPr>
              <a:t>Ukhrul · Photo: Ac apam, CC BY-SA 3.0</a:t>
            </a:r>
          </a:p>
        </p:txBody>
      </p:sp>
      <p:sp>
        <p:nvSpPr>
          <p:cNvPr id="26" name="Rounded Rectangle 25"/>
          <p:cNvSpPr/>
          <p:nvPr/>
        </p:nvSpPr>
        <p:spPr>
          <a:xfrm>
            <a:off x="4389120" y="4453128"/>
            <a:ext cx="7251192" cy="1691640"/>
          </a:xfrm>
          <a:prstGeom prst="roundRect">
            <a:avLst>
              <a:gd name="adj" fmla="val 8000"/>
            </a:avLst>
          </a:prstGeom>
          <a:solidFill>
            <a:srgbClr val="FB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4544568"/>
            <a:ext cx="6766560" cy="365760"/>
          </a:xfrm>
          <a:prstGeom prst="rect">
            <a:avLst/>
          </a:prstGeom>
          <a:noFill/>
        </p:spPr>
        <p:txBody>
          <a:bodyPr wrap="square" anchor="t" lIns="0" rIns="0" tIns="0" bIns="0">
            <a:spAutoFit/>
          </a:bodyPr>
          <a:lstStyle/>
          <a:p>
            <a:pPr algn="l">
              <a:spcAft>
                <a:spcPts val="0"/>
              </a:spcAft>
            </a:pPr>
            <a:r>
              <a:rPr sz="1500" b="1" i="0">
                <a:solidFill>
                  <a:srgbClr val="C8385A"/>
                </a:solidFill>
              </a:rPr>
              <a:t>Destination promotion beyond the usual circuit</a:t>
            </a:r>
          </a:p>
        </p:txBody>
      </p:sp>
      <p:sp>
        <p:nvSpPr>
          <p:cNvPr id="28" name="TextBox 27"/>
          <p:cNvSpPr txBox="1"/>
          <p:nvPr/>
        </p:nvSpPr>
        <p:spPr>
          <a:xfrm>
            <a:off x="4663440" y="4910328"/>
            <a:ext cx="6766560" cy="1188720"/>
          </a:xfrm>
          <a:prstGeom prst="rect">
            <a:avLst/>
          </a:prstGeom>
          <a:noFill/>
        </p:spPr>
        <p:txBody>
          <a:bodyPr wrap="square" anchor="t" lIns="0" rIns="0" tIns="0" bIns="0">
            <a:spAutoFit/>
          </a:bodyPr>
          <a:lstStyle/>
          <a:p>
            <a:pPr algn="l">
              <a:spcAft>
                <a:spcPts val="0"/>
              </a:spcAft>
            </a:pPr>
            <a:r>
              <a:rPr sz="1200" b="0" i="0">
                <a:solidFill>
                  <a:srgbClr val="1B2A2F"/>
                </a:solidFill>
              </a:rPr>
              <a:t>The Department can see which places are crowded and which are ready, then steer campaigns and plans toward places like Ukhrul, Shirui and Andro — spreading visitors and income across Manipur's 16 districts. In a pilot we would measure local-host bookings, check-ins outside the top destinations, and feedback resolved.</a:t>
            </a:r>
          </a:p>
        </p:txBody>
      </p:sp>
    </p:spTree>
    <p:extLst>
      <p:ext uri="{BB962C8B-B14F-4D97-AF65-F5344CB8AC3E}">
        <p14:creationId xmlns:p14="http://schemas.microsoft.com/office/powerpoint/2010/main" val="1038637909"/>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685800"/>
          </a:xfrm>
        </p:spPr>
        <p:txBody>
          <a:bodyPr wrap="square" anchor="t" lIns="0" rIns="0" tIns="0" bIns="0"/>
          <a:lstStyle/>
          <a:p>
            <a:pPr algn="l"/>
            <a:r>
              <a:rPr sz="3000" b="1">
                <a:solidFill>
                  <a:srgbClr val="1B2A2F"/>
                </a:solidFill>
                <a:latin typeface="Calibri"/>
              </a:rPr>
              <a:t>Problem Statement — Manipur's tourism is scattered</a:t>
            </a:r>
          </a:p>
        </p:txBody>
      </p:sp>
      <p:sp>
        <p:nvSpPr>
          <p:cNvPr id="3" name="TextBox 2"/>
          <p:cNvSpPr txBox="1"/>
          <p:nvPr/>
        </p:nvSpPr>
        <p:spPr>
          <a:xfrm>
            <a:off x="548640" y="987552"/>
            <a:ext cx="11064240" cy="320040"/>
          </a:xfrm>
          <a:prstGeom prst="rect">
            <a:avLst/>
          </a:prstGeom>
          <a:noFill/>
        </p:spPr>
        <p:txBody>
          <a:bodyPr wrap="square" anchor="t" lIns="0" rIns="0" tIns="0" bIns="0">
            <a:spAutoFit/>
          </a:bodyPr>
          <a:lstStyle/>
          <a:p>
            <a:pPr algn="l">
              <a:spcAft>
                <a:spcPts val="0"/>
              </a:spcAft>
            </a:pPr>
            <a:r>
              <a:rPr sz="1400" b="0" i="1">
                <a:solidFill>
                  <a:srgbClr val="5F6B6D"/>
                </a:solidFill>
              </a:rPr>
              <a:t>What a first-time visitor, a local host and the Tourism Department each run into today</a:t>
            </a:r>
          </a:p>
        </p:txBody>
      </p:sp>
      <p:sp>
        <p:nvSpPr>
          <p:cNvPr id="4" name="Rounded Rectangle 3"/>
          <p:cNvSpPr/>
          <p:nvPr/>
        </p:nvSpPr>
        <p:spPr>
          <a:xfrm>
            <a:off x="548640" y="1508760"/>
            <a:ext cx="3246120" cy="2011680"/>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1783080"/>
            <a:ext cx="548640" cy="548640"/>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atter-w.png"/>
          <p:cNvPicPr>
            <a:picLocks noChangeAspect="1"/>
          </p:cNvPicPr>
          <p:nvPr/>
        </p:nvPicPr>
        <p:blipFill>
          <a:blip r:embed="rId2"/>
          <a:stretch>
            <a:fillRect/>
          </a:stretch>
        </p:blipFill>
        <p:spPr>
          <a:xfrm>
            <a:off x="960119" y="1920240"/>
            <a:ext cx="274320" cy="274320"/>
          </a:xfrm>
          <a:prstGeom prst="rect">
            <a:avLst/>
          </a:prstGeom>
        </p:spPr>
      </p:pic>
      <p:sp>
        <p:nvSpPr>
          <p:cNvPr id="7" name="TextBox 6"/>
          <p:cNvSpPr txBox="1"/>
          <p:nvPr/>
        </p:nvSpPr>
        <p:spPr>
          <a:xfrm>
            <a:off x="822959" y="2423160"/>
            <a:ext cx="2697479" cy="365760"/>
          </a:xfrm>
          <a:prstGeom prst="rect">
            <a:avLst/>
          </a:prstGeom>
          <a:noFill/>
        </p:spPr>
        <p:txBody>
          <a:bodyPr wrap="square" anchor="t" lIns="0" rIns="0" tIns="0" bIns="0">
            <a:spAutoFit/>
          </a:bodyPr>
          <a:lstStyle/>
          <a:p>
            <a:pPr algn="l">
              <a:spcAft>
                <a:spcPts val="0"/>
              </a:spcAft>
            </a:pPr>
            <a:r>
              <a:rPr sz="1500" b="1" i="0">
                <a:solidFill>
                  <a:srgbClr val="1B2A2F"/>
                </a:solidFill>
              </a:rPr>
              <a:t>Information is scattered</a:t>
            </a:r>
          </a:p>
        </p:txBody>
      </p:sp>
      <p:sp>
        <p:nvSpPr>
          <p:cNvPr id="8" name="TextBox 7"/>
          <p:cNvSpPr txBox="1"/>
          <p:nvPr/>
        </p:nvSpPr>
        <p:spPr>
          <a:xfrm>
            <a:off x="822959" y="2788920"/>
            <a:ext cx="2697479" cy="731520"/>
          </a:xfrm>
          <a:prstGeom prst="rect">
            <a:avLst/>
          </a:prstGeom>
          <a:noFill/>
        </p:spPr>
        <p:txBody>
          <a:bodyPr wrap="square" anchor="t" lIns="0" rIns="0" tIns="0" bIns="0">
            <a:spAutoFit/>
          </a:bodyPr>
          <a:lstStyle/>
          <a:p>
            <a:pPr algn="l">
              <a:spcAft>
                <a:spcPts val="0"/>
              </a:spcAft>
            </a:pPr>
            <a:r>
              <a:rPr sz="1200" b="0" i="0">
                <a:solidFill>
                  <a:srgbClr val="5F6B6D"/>
                </a:solidFill>
              </a:rPr>
              <a:t>Destinations, events, food, stays and transport sit on separate sites, pages and word of mouth.</a:t>
            </a:r>
          </a:p>
        </p:txBody>
      </p:sp>
      <p:sp>
        <p:nvSpPr>
          <p:cNvPr id="9" name="Rounded Rectangle 8"/>
          <p:cNvSpPr/>
          <p:nvPr/>
        </p:nvSpPr>
        <p:spPr>
          <a:xfrm>
            <a:off x="4069079" y="1508760"/>
            <a:ext cx="3246120" cy="2011680"/>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343399" y="1783080"/>
            <a:ext cx="548640" cy="548640"/>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ute-w.png"/>
          <p:cNvPicPr>
            <a:picLocks noChangeAspect="1"/>
          </p:cNvPicPr>
          <p:nvPr/>
        </p:nvPicPr>
        <p:blipFill>
          <a:blip r:embed="rId3"/>
          <a:stretch>
            <a:fillRect/>
          </a:stretch>
        </p:blipFill>
        <p:spPr>
          <a:xfrm>
            <a:off x="4480559" y="1920240"/>
            <a:ext cx="274320" cy="274320"/>
          </a:xfrm>
          <a:prstGeom prst="rect">
            <a:avLst/>
          </a:prstGeom>
        </p:spPr>
      </p:pic>
      <p:sp>
        <p:nvSpPr>
          <p:cNvPr id="12" name="TextBox 11"/>
          <p:cNvSpPr txBox="1"/>
          <p:nvPr/>
        </p:nvSpPr>
        <p:spPr>
          <a:xfrm>
            <a:off x="4343399" y="2423160"/>
            <a:ext cx="2697479" cy="365760"/>
          </a:xfrm>
          <a:prstGeom prst="rect">
            <a:avLst/>
          </a:prstGeom>
          <a:noFill/>
        </p:spPr>
        <p:txBody>
          <a:bodyPr wrap="square" anchor="t" lIns="0" rIns="0" tIns="0" bIns="0">
            <a:spAutoFit/>
          </a:bodyPr>
          <a:lstStyle/>
          <a:p>
            <a:pPr algn="l">
              <a:spcAft>
                <a:spcPts val="0"/>
              </a:spcAft>
            </a:pPr>
            <a:r>
              <a:rPr sz="1500" b="1" i="0">
                <a:solidFill>
                  <a:srgbClr val="1B2A2F"/>
                </a:solidFill>
              </a:rPr>
              <a:t>Planning is one-size-fits-all</a:t>
            </a:r>
          </a:p>
        </p:txBody>
      </p:sp>
      <p:sp>
        <p:nvSpPr>
          <p:cNvPr id="13" name="TextBox 12"/>
          <p:cNvSpPr txBox="1"/>
          <p:nvPr/>
        </p:nvSpPr>
        <p:spPr>
          <a:xfrm>
            <a:off x="4343399" y="2788920"/>
            <a:ext cx="2697479" cy="731520"/>
          </a:xfrm>
          <a:prstGeom prst="rect">
            <a:avLst/>
          </a:prstGeom>
          <a:noFill/>
        </p:spPr>
        <p:txBody>
          <a:bodyPr wrap="square" anchor="t" lIns="0" rIns="0" tIns="0" bIns="0">
            <a:spAutoFit/>
          </a:bodyPr>
          <a:lstStyle/>
          <a:p>
            <a:pPr algn="l">
              <a:spcAft>
                <a:spcPts val="0"/>
              </a:spcAft>
            </a:pPr>
            <a:r>
              <a:rPr sz="1200" b="0" i="0">
                <a:solidFill>
                  <a:srgbClr val="5F6B6D"/>
                </a:solidFill>
              </a:rPr>
              <a:t>Interests, budget and days differ, yet there is no way to get a costed, local plan in one place.</a:t>
            </a:r>
          </a:p>
        </p:txBody>
      </p:sp>
      <p:sp>
        <p:nvSpPr>
          <p:cNvPr id="14" name="Rounded Rectangle 13"/>
          <p:cNvSpPr/>
          <p:nvPr/>
        </p:nvSpPr>
        <p:spPr>
          <a:xfrm>
            <a:off x="548640" y="3794760"/>
            <a:ext cx="3246120" cy="2011680"/>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2959" y="4069080"/>
            <a:ext cx="548640" cy="548640"/>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ang-w.png"/>
          <p:cNvPicPr>
            <a:picLocks noChangeAspect="1"/>
          </p:cNvPicPr>
          <p:nvPr/>
        </p:nvPicPr>
        <p:blipFill>
          <a:blip r:embed="rId4"/>
          <a:stretch>
            <a:fillRect/>
          </a:stretch>
        </p:blipFill>
        <p:spPr>
          <a:xfrm>
            <a:off x="960119" y="4206240"/>
            <a:ext cx="274320" cy="274320"/>
          </a:xfrm>
          <a:prstGeom prst="rect">
            <a:avLst/>
          </a:prstGeom>
        </p:spPr>
      </p:pic>
      <p:sp>
        <p:nvSpPr>
          <p:cNvPr id="17" name="TextBox 16"/>
          <p:cNvSpPr txBox="1"/>
          <p:nvPr/>
        </p:nvSpPr>
        <p:spPr>
          <a:xfrm>
            <a:off x="822959" y="4709160"/>
            <a:ext cx="2697479" cy="365760"/>
          </a:xfrm>
          <a:prstGeom prst="rect">
            <a:avLst/>
          </a:prstGeom>
          <a:noFill/>
        </p:spPr>
        <p:txBody>
          <a:bodyPr wrap="square" anchor="t" lIns="0" rIns="0" tIns="0" bIns="0">
            <a:spAutoFit/>
          </a:bodyPr>
          <a:lstStyle/>
          <a:p>
            <a:pPr algn="l">
              <a:spcAft>
                <a:spcPts val="0"/>
              </a:spcAft>
            </a:pPr>
            <a:r>
              <a:rPr sz="1500" b="1" i="0">
                <a:solidFill>
                  <a:srgbClr val="1B2A2F"/>
                </a:solidFill>
              </a:rPr>
              <a:t>Language is a real barrier</a:t>
            </a:r>
          </a:p>
        </p:txBody>
      </p:sp>
      <p:sp>
        <p:nvSpPr>
          <p:cNvPr id="18" name="TextBox 17"/>
          <p:cNvSpPr txBox="1"/>
          <p:nvPr/>
        </p:nvSpPr>
        <p:spPr>
          <a:xfrm>
            <a:off x="822959" y="5074920"/>
            <a:ext cx="2697479" cy="731520"/>
          </a:xfrm>
          <a:prstGeom prst="rect">
            <a:avLst/>
          </a:prstGeom>
          <a:noFill/>
        </p:spPr>
        <p:txBody>
          <a:bodyPr wrap="square" anchor="t" lIns="0" rIns="0" tIns="0" bIns="0">
            <a:spAutoFit/>
          </a:bodyPr>
          <a:lstStyle/>
          <a:p>
            <a:pPr algn="l">
              <a:spcAft>
                <a:spcPts val="0"/>
              </a:spcAft>
            </a:pPr>
            <a:r>
              <a:rPr sz="1200" b="0" i="0">
                <a:solidFill>
                  <a:srgbClr val="5F6B6D"/>
                </a:solidFill>
              </a:rPr>
              <a:t>Meiteilon is barely served by mainstream translation apps, so visitors and hosts struggle to talk.</a:t>
            </a:r>
          </a:p>
        </p:txBody>
      </p:sp>
      <p:sp>
        <p:nvSpPr>
          <p:cNvPr id="19" name="Rounded Rectangle 18"/>
          <p:cNvSpPr/>
          <p:nvPr/>
        </p:nvSpPr>
        <p:spPr>
          <a:xfrm>
            <a:off x="4069079" y="3794760"/>
            <a:ext cx="3246120" cy="2011680"/>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343399" y="4069080"/>
            <a:ext cx="548640" cy="548640"/>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home-w.png"/>
          <p:cNvPicPr>
            <a:picLocks noChangeAspect="1"/>
          </p:cNvPicPr>
          <p:nvPr/>
        </p:nvPicPr>
        <p:blipFill>
          <a:blip r:embed="rId5"/>
          <a:stretch>
            <a:fillRect/>
          </a:stretch>
        </p:blipFill>
        <p:spPr>
          <a:xfrm>
            <a:off x="4480559" y="4206240"/>
            <a:ext cx="274320" cy="274320"/>
          </a:xfrm>
          <a:prstGeom prst="rect">
            <a:avLst/>
          </a:prstGeom>
        </p:spPr>
      </p:pic>
      <p:sp>
        <p:nvSpPr>
          <p:cNvPr id="22" name="TextBox 21"/>
          <p:cNvSpPr txBox="1"/>
          <p:nvPr/>
        </p:nvSpPr>
        <p:spPr>
          <a:xfrm>
            <a:off x="4343399" y="4709160"/>
            <a:ext cx="2697479" cy="365760"/>
          </a:xfrm>
          <a:prstGeom prst="rect">
            <a:avLst/>
          </a:prstGeom>
          <a:noFill/>
        </p:spPr>
        <p:txBody>
          <a:bodyPr wrap="square" anchor="t" lIns="0" rIns="0" tIns="0" bIns="0">
            <a:spAutoFit/>
          </a:bodyPr>
          <a:lstStyle/>
          <a:p>
            <a:pPr algn="l">
              <a:spcAft>
                <a:spcPts val="0"/>
              </a:spcAft>
            </a:pPr>
            <a:r>
              <a:rPr sz="1500" b="1" i="0">
                <a:solidFill>
                  <a:srgbClr val="1B2A2F"/>
                </a:solidFill>
              </a:rPr>
              <a:t>Local hosts are invisible</a:t>
            </a:r>
          </a:p>
        </p:txBody>
      </p:sp>
      <p:sp>
        <p:nvSpPr>
          <p:cNvPr id="23" name="TextBox 22"/>
          <p:cNvSpPr txBox="1"/>
          <p:nvPr/>
        </p:nvSpPr>
        <p:spPr>
          <a:xfrm>
            <a:off x="4343399" y="5074920"/>
            <a:ext cx="2697479" cy="731520"/>
          </a:xfrm>
          <a:prstGeom prst="rect">
            <a:avLst/>
          </a:prstGeom>
          <a:noFill/>
        </p:spPr>
        <p:txBody>
          <a:bodyPr wrap="square" anchor="t" lIns="0" rIns="0" tIns="0" bIns="0">
            <a:spAutoFit/>
          </a:bodyPr>
          <a:lstStyle/>
          <a:p>
            <a:pPr algn="l">
              <a:spcAft>
                <a:spcPts val="0"/>
              </a:spcAft>
            </a:pPr>
            <a:r>
              <a:rPr sz="1200" b="0" i="0">
                <a:solidFill>
                  <a:srgbClr val="5F6B6D"/>
                </a:solidFill>
              </a:rPr>
              <a:t>Homestays, guides and artisans have little digital presence and no simple way to take a booking.</a:t>
            </a:r>
          </a:p>
        </p:txBody>
      </p:sp>
      <p:pic>
        <p:nvPicPr>
          <p:cNvPr id="24" name="Picture 23" descr="dest-ima-keithel.jpg"/>
          <p:cNvPicPr>
            <a:picLocks noChangeAspect="1"/>
          </p:cNvPicPr>
          <p:nvPr/>
        </p:nvPicPr>
        <p:blipFill>
          <a:blip r:embed="rId6"/>
          <a:srcRect t="731" b="731"/>
          <a:stretch>
            <a:fillRect/>
          </a:stretch>
        </p:blipFill>
        <p:spPr>
          <a:xfrm>
            <a:off x="7680960" y="1508760"/>
            <a:ext cx="3959352" cy="2926080"/>
          </a:xfrm>
          <a:prstGeom prst="rect">
            <a:avLst/>
          </a:prstGeom>
        </p:spPr>
      </p:pic>
      <p:sp>
        <p:nvSpPr>
          <p:cNvPr id="25" name="TextBox 24"/>
          <p:cNvSpPr txBox="1"/>
          <p:nvPr/>
        </p:nvSpPr>
        <p:spPr>
          <a:xfrm>
            <a:off x="7680960" y="4462272"/>
            <a:ext cx="3959352" cy="201168"/>
          </a:xfrm>
          <a:prstGeom prst="rect">
            <a:avLst/>
          </a:prstGeom>
          <a:noFill/>
        </p:spPr>
        <p:txBody>
          <a:bodyPr wrap="square" anchor="t" lIns="0" rIns="0" tIns="0" bIns="0">
            <a:spAutoFit/>
          </a:bodyPr>
          <a:lstStyle/>
          <a:p>
            <a:pPr algn="r">
              <a:spcAft>
                <a:spcPts val="0"/>
              </a:spcAft>
            </a:pPr>
            <a:r>
              <a:rPr sz="800" b="0" i="0">
                <a:solidFill>
                  <a:srgbClr val="5F6B6D"/>
                </a:solidFill>
              </a:rPr>
              <a:t>Ima Keithel · Photo: PP Yoonus, CC BY-SA 3.0</a:t>
            </a:r>
          </a:p>
        </p:txBody>
      </p:sp>
      <p:sp>
        <p:nvSpPr>
          <p:cNvPr id="26" name="Rounded Rectangle 25"/>
          <p:cNvSpPr/>
          <p:nvPr/>
        </p:nvSpPr>
        <p:spPr>
          <a:xfrm>
            <a:off x="7680960" y="4754880"/>
            <a:ext cx="3959352" cy="1325880"/>
          </a:xfrm>
          <a:prstGeom prst="roundRect">
            <a:avLst>
              <a:gd name="adj" fmla="val 8000"/>
            </a:avLst>
          </a:prstGeom>
          <a:solidFill>
            <a:srgbClr val="FB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09560" y="4846320"/>
            <a:ext cx="3566160" cy="1188720"/>
          </a:xfrm>
          <a:prstGeom prst="rect">
            <a:avLst/>
          </a:prstGeom>
          <a:noFill/>
        </p:spPr>
        <p:txBody>
          <a:bodyPr wrap="square" anchor="ctr" lIns="0" rIns="0" tIns="0" bIns="0">
            <a:spAutoFit/>
          </a:bodyPr>
          <a:lstStyle/>
          <a:p>
            <a:pPr algn="l">
              <a:spcAft>
                <a:spcPts val="0"/>
              </a:spcAft>
            </a:pPr>
            <a:r>
              <a:rPr sz="1300" b="1" i="0">
                <a:solidFill>
                  <a:srgbClr val="C8385A"/>
                </a:solidFill>
              </a:rPr>
              <a:t>The result: </a:t>
            </a:r>
            <a:r>
              <a:rPr sz="1300" b="0" i="0">
                <a:solidFill>
                  <a:srgbClr val="1B2A2F"/>
                </a:solidFill>
              </a:rPr>
              <a:t>visitors crowd a few famous spots, local hosts miss out, and the Department decides without seeing what visitors actually 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685800"/>
          </a:xfrm>
        </p:spPr>
        <p:txBody>
          <a:bodyPr wrap="square" anchor="t" lIns="0" rIns="0" tIns="0" bIns="0"/>
          <a:lstStyle/>
          <a:p>
            <a:pPr algn="l"/>
            <a:r>
              <a:rPr sz="3000" b="1">
                <a:solidFill>
                  <a:srgbClr val="1B2A2F"/>
                </a:solidFill>
                <a:latin typeface="Calibri"/>
              </a:rPr>
              <a:t>Proposed Solution — every problem statement, in one platform</a:t>
            </a:r>
          </a:p>
        </p:txBody>
      </p:sp>
      <p:sp>
        <p:nvSpPr>
          <p:cNvPr id="3" name="TextBox 2"/>
          <p:cNvSpPr txBox="1"/>
          <p:nvPr/>
        </p:nvSpPr>
        <p:spPr>
          <a:xfrm>
            <a:off x="548640" y="987552"/>
            <a:ext cx="11064240" cy="320040"/>
          </a:xfrm>
          <a:prstGeom prst="rect">
            <a:avLst/>
          </a:prstGeom>
          <a:noFill/>
        </p:spPr>
        <p:txBody>
          <a:bodyPr wrap="square" anchor="t" lIns="0" rIns="0" tIns="0" bIns="0">
            <a:spAutoFit/>
          </a:bodyPr>
          <a:lstStyle/>
          <a:p>
            <a:pPr algn="l">
              <a:spcAft>
                <a:spcPts val="0"/>
              </a:spcAft>
            </a:pPr>
            <a:r>
              <a:rPr sz="1400" b="0" i="1">
                <a:solidFill>
                  <a:srgbClr val="5F6B6D"/>
                </a:solidFill>
              </a:rPr>
              <a:t>What is built and working in the live prototype today</a:t>
            </a:r>
          </a:p>
        </p:txBody>
      </p:sp>
      <p:sp>
        <p:nvSpPr>
          <p:cNvPr id="4" name="Rounded Rectangle 3"/>
          <p:cNvSpPr/>
          <p:nvPr/>
        </p:nvSpPr>
        <p:spPr>
          <a:xfrm>
            <a:off x="548640" y="1463040"/>
            <a:ext cx="5440680" cy="1024128"/>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49808" y="1700784"/>
            <a:ext cx="548640" cy="548640"/>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ap-w.png"/>
          <p:cNvPicPr>
            <a:picLocks noChangeAspect="1"/>
          </p:cNvPicPr>
          <p:nvPr/>
        </p:nvPicPr>
        <p:blipFill>
          <a:blip r:embed="rId2"/>
          <a:stretch>
            <a:fillRect/>
          </a:stretch>
        </p:blipFill>
        <p:spPr>
          <a:xfrm>
            <a:off x="886968" y="1837944"/>
            <a:ext cx="274320" cy="274320"/>
          </a:xfrm>
          <a:prstGeom prst="rect">
            <a:avLst/>
          </a:prstGeom>
        </p:spPr>
      </p:pic>
      <p:sp>
        <p:nvSpPr>
          <p:cNvPr id="7" name="TextBox 6"/>
          <p:cNvSpPr txBox="1"/>
          <p:nvPr/>
        </p:nvSpPr>
        <p:spPr>
          <a:xfrm>
            <a:off x="1508760" y="1572768"/>
            <a:ext cx="4297680" cy="320040"/>
          </a:xfrm>
          <a:prstGeom prst="rect">
            <a:avLst/>
          </a:prstGeom>
          <a:noFill/>
        </p:spPr>
        <p:txBody>
          <a:bodyPr wrap="square" anchor="t" lIns="0" rIns="0" tIns="0" bIns="0">
            <a:spAutoFit/>
          </a:bodyPr>
          <a:lstStyle/>
          <a:p>
            <a:pPr algn="l">
              <a:spcAft>
                <a:spcPts val="0"/>
              </a:spcAft>
            </a:pPr>
            <a:r>
              <a:rPr sz="1400" b="1" i="0">
                <a:solidFill>
                  <a:srgbClr val="C8385A"/>
                </a:solidFill>
              </a:rPr>
              <a:t>PS 1  </a:t>
            </a:r>
            <a:r>
              <a:rPr sz="1400" b="1" i="0">
                <a:solidFill>
                  <a:srgbClr val="1B2A2F"/>
                </a:solidFill>
              </a:rPr>
              <a:t>Smart Discovery</a:t>
            </a:r>
          </a:p>
        </p:txBody>
      </p:sp>
      <p:sp>
        <p:nvSpPr>
          <p:cNvPr id="8" name="TextBox 7"/>
          <p:cNvSpPr txBox="1"/>
          <p:nvPr/>
        </p:nvSpPr>
        <p:spPr>
          <a:xfrm>
            <a:off x="1508760" y="1874520"/>
            <a:ext cx="4297680" cy="594360"/>
          </a:xfrm>
          <a:prstGeom prst="rect">
            <a:avLst/>
          </a:prstGeom>
          <a:noFill/>
        </p:spPr>
        <p:txBody>
          <a:bodyPr wrap="square" anchor="t" lIns="0" rIns="0" tIns="0" bIns="0">
            <a:spAutoFit/>
          </a:bodyPr>
          <a:lstStyle/>
          <a:p>
            <a:pPr algn="l">
              <a:spcAft>
                <a:spcPts val="0"/>
              </a:spcAft>
            </a:pPr>
            <a:r>
              <a:rPr sz="1150" b="0" i="0">
                <a:solidFill>
                  <a:srgbClr val="5F6B6D"/>
                </a:solidFill>
              </a:rPr>
              <a:t>14 destinations, 28 experiences, events, food, stays and transport on maps with road routing</a:t>
            </a:r>
          </a:p>
        </p:txBody>
      </p:sp>
      <p:sp>
        <p:nvSpPr>
          <p:cNvPr id="9" name="Rounded Rectangle 8"/>
          <p:cNvSpPr/>
          <p:nvPr/>
        </p:nvSpPr>
        <p:spPr>
          <a:xfrm>
            <a:off x="6172200" y="1463040"/>
            <a:ext cx="5440680" cy="1024128"/>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373368" y="1700784"/>
            <a:ext cx="548640" cy="548640"/>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bot-w.png"/>
          <p:cNvPicPr>
            <a:picLocks noChangeAspect="1"/>
          </p:cNvPicPr>
          <p:nvPr/>
        </p:nvPicPr>
        <p:blipFill>
          <a:blip r:embed="rId3"/>
          <a:stretch>
            <a:fillRect/>
          </a:stretch>
        </p:blipFill>
        <p:spPr>
          <a:xfrm>
            <a:off x="6510528" y="1837944"/>
            <a:ext cx="274320" cy="274320"/>
          </a:xfrm>
          <a:prstGeom prst="rect">
            <a:avLst/>
          </a:prstGeom>
        </p:spPr>
      </p:pic>
      <p:sp>
        <p:nvSpPr>
          <p:cNvPr id="12" name="TextBox 11"/>
          <p:cNvSpPr txBox="1"/>
          <p:nvPr/>
        </p:nvSpPr>
        <p:spPr>
          <a:xfrm>
            <a:off x="7132320" y="1572768"/>
            <a:ext cx="4297680" cy="320040"/>
          </a:xfrm>
          <a:prstGeom prst="rect">
            <a:avLst/>
          </a:prstGeom>
          <a:noFill/>
        </p:spPr>
        <p:txBody>
          <a:bodyPr wrap="square" anchor="t" lIns="0" rIns="0" tIns="0" bIns="0">
            <a:spAutoFit/>
          </a:bodyPr>
          <a:lstStyle/>
          <a:p>
            <a:pPr algn="l">
              <a:spcAft>
                <a:spcPts val="0"/>
              </a:spcAft>
            </a:pPr>
            <a:r>
              <a:rPr sz="1400" b="1" i="0">
                <a:solidFill>
                  <a:srgbClr val="C8385A"/>
                </a:solidFill>
              </a:rPr>
              <a:t>PS 2  </a:t>
            </a:r>
            <a:r>
              <a:rPr sz="1400" b="1" i="0">
                <a:solidFill>
                  <a:srgbClr val="1B2A2F"/>
                </a:solidFill>
              </a:rPr>
              <a:t>AI Travel Planner</a:t>
            </a:r>
          </a:p>
        </p:txBody>
      </p:sp>
      <p:sp>
        <p:nvSpPr>
          <p:cNvPr id="13" name="TextBox 12"/>
          <p:cNvSpPr txBox="1"/>
          <p:nvPr/>
        </p:nvSpPr>
        <p:spPr>
          <a:xfrm>
            <a:off x="7132320" y="1874520"/>
            <a:ext cx="4297680" cy="594360"/>
          </a:xfrm>
          <a:prstGeom prst="rect">
            <a:avLst/>
          </a:prstGeom>
          <a:noFill/>
        </p:spPr>
        <p:txBody>
          <a:bodyPr wrap="square" anchor="t" lIns="0" rIns="0" tIns="0" bIns="0">
            <a:spAutoFit/>
          </a:bodyPr>
          <a:lstStyle/>
          <a:p>
            <a:pPr algn="l">
              <a:spcAft>
                <a:spcPts val="0"/>
              </a:spcAft>
            </a:pPr>
            <a:r>
              <a:rPr sz="1150" b="0" i="0">
                <a:solidFill>
                  <a:srgbClr val="5F6B6D"/>
                </a:solidFill>
              </a:rPr>
              <a:t>Describe your trip in words → 2–3 costed options with stays, car and driver, guides, within budget</a:t>
            </a:r>
          </a:p>
        </p:txBody>
      </p:sp>
      <p:sp>
        <p:nvSpPr>
          <p:cNvPr id="14" name="Rounded Rectangle 13"/>
          <p:cNvSpPr/>
          <p:nvPr/>
        </p:nvSpPr>
        <p:spPr>
          <a:xfrm>
            <a:off x="548640" y="2642616"/>
            <a:ext cx="5440680" cy="1024128"/>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49808" y="2880360"/>
            <a:ext cx="548640" cy="548640"/>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ic-w.png"/>
          <p:cNvPicPr>
            <a:picLocks noChangeAspect="1"/>
          </p:cNvPicPr>
          <p:nvPr/>
        </p:nvPicPr>
        <p:blipFill>
          <a:blip r:embed="rId4"/>
          <a:stretch>
            <a:fillRect/>
          </a:stretch>
        </p:blipFill>
        <p:spPr>
          <a:xfrm>
            <a:off x="886968" y="3017520"/>
            <a:ext cx="274320" cy="274320"/>
          </a:xfrm>
          <a:prstGeom prst="rect">
            <a:avLst/>
          </a:prstGeom>
        </p:spPr>
      </p:pic>
      <p:sp>
        <p:nvSpPr>
          <p:cNvPr id="17" name="TextBox 16"/>
          <p:cNvSpPr txBox="1"/>
          <p:nvPr/>
        </p:nvSpPr>
        <p:spPr>
          <a:xfrm>
            <a:off x="1508760" y="2752344"/>
            <a:ext cx="4297680" cy="320040"/>
          </a:xfrm>
          <a:prstGeom prst="rect">
            <a:avLst/>
          </a:prstGeom>
          <a:noFill/>
        </p:spPr>
        <p:txBody>
          <a:bodyPr wrap="square" anchor="t" lIns="0" rIns="0" tIns="0" bIns="0">
            <a:spAutoFit/>
          </a:bodyPr>
          <a:lstStyle/>
          <a:p>
            <a:pPr algn="l">
              <a:spcAft>
                <a:spcPts val="0"/>
              </a:spcAft>
            </a:pPr>
            <a:r>
              <a:rPr sz="1400" b="1" i="0">
                <a:solidFill>
                  <a:srgbClr val="C8385A"/>
                </a:solidFill>
              </a:rPr>
              <a:t>PS 3  </a:t>
            </a:r>
            <a:r>
              <a:rPr sz="1400" b="1" i="0">
                <a:solidFill>
                  <a:srgbClr val="1B2A2F"/>
                </a:solidFill>
              </a:rPr>
              <a:t>Multilingual Assistant</a:t>
            </a:r>
          </a:p>
        </p:txBody>
      </p:sp>
      <p:sp>
        <p:nvSpPr>
          <p:cNvPr id="18" name="TextBox 17"/>
          <p:cNvSpPr txBox="1"/>
          <p:nvPr/>
        </p:nvSpPr>
        <p:spPr>
          <a:xfrm>
            <a:off x="1508760" y="3054096"/>
            <a:ext cx="4297680" cy="594360"/>
          </a:xfrm>
          <a:prstGeom prst="rect">
            <a:avLst/>
          </a:prstGeom>
          <a:noFill/>
        </p:spPr>
        <p:txBody>
          <a:bodyPr wrap="square" anchor="t" lIns="0" rIns="0" tIns="0" bIns="0">
            <a:spAutoFit/>
          </a:bodyPr>
          <a:lstStyle/>
          <a:p>
            <a:pPr algn="l">
              <a:spcAft>
                <a:spcPts val="0"/>
              </a:spcAft>
            </a:pPr>
            <a:r>
              <a:rPr sz="1150" b="0" i="0">
                <a:solidFill>
                  <a:srgbClr val="5F6B6D"/>
                </a:solidFill>
              </a:rPr>
              <a:t>Talk: hold-to-speak Manipuri ⇄ English/Hindi interpreter, offline phrasebook and etiquette</a:t>
            </a:r>
          </a:p>
        </p:txBody>
      </p:sp>
      <p:sp>
        <p:nvSpPr>
          <p:cNvPr id="19" name="Rounded Rectangle 18"/>
          <p:cNvSpPr/>
          <p:nvPr/>
        </p:nvSpPr>
        <p:spPr>
          <a:xfrm>
            <a:off x="6172200" y="2642616"/>
            <a:ext cx="5440680" cy="1024128"/>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73368" y="2880360"/>
            <a:ext cx="548640" cy="548640"/>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bed-w.png"/>
          <p:cNvPicPr>
            <a:picLocks noChangeAspect="1"/>
          </p:cNvPicPr>
          <p:nvPr/>
        </p:nvPicPr>
        <p:blipFill>
          <a:blip r:embed="rId5"/>
          <a:stretch>
            <a:fillRect/>
          </a:stretch>
        </p:blipFill>
        <p:spPr>
          <a:xfrm>
            <a:off x="6510528" y="3017520"/>
            <a:ext cx="274320" cy="274320"/>
          </a:xfrm>
          <a:prstGeom prst="rect">
            <a:avLst/>
          </a:prstGeom>
        </p:spPr>
      </p:pic>
      <p:sp>
        <p:nvSpPr>
          <p:cNvPr id="22" name="TextBox 21"/>
          <p:cNvSpPr txBox="1"/>
          <p:nvPr/>
        </p:nvSpPr>
        <p:spPr>
          <a:xfrm>
            <a:off x="7132320" y="2752344"/>
            <a:ext cx="4297680" cy="320040"/>
          </a:xfrm>
          <a:prstGeom prst="rect">
            <a:avLst/>
          </a:prstGeom>
          <a:noFill/>
        </p:spPr>
        <p:txBody>
          <a:bodyPr wrap="square" anchor="t" lIns="0" rIns="0" tIns="0" bIns="0">
            <a:spAutoFit/>
          </a:bodyPr>
          <a:lstStyle/>
          <a:p>
            <a:pPr algn="l">
              <a:spcAft>
                <a:spcPts val="0"/>
              </a:spcAft>
            </a:pPr>
            <a:r>
              <a:rPr sz="1400" b="1" i="0">
                <a:solidFill>
                  <a:srgbClr val="C8385A"/>
                </a:solidFill>
              </a:rPr>
              <a:t>PS 5  </a:t>
            </a:r>
            <a:r>
              <a:rPr sz="1400" b="1" i="0">
                <a:solidFill>
                  <a:srgbClr val="1B2A2F"/>
                </a:solidFill>
              </a:rPr>
              <a:t>Homestays &amp; Local Stays</a:t>
            </a:r>
          </a:p>
        </p:txBody>
      </p:sp>
      <p:sp>
        <p:nvSpPr>
          <p:cNvPr id="23" name="TextBox 22"/>
          <p:cNvSpPr txBox="1"/>
          <p:nvPr/>
        </p:nvSpPr>
        <p:spPr>
          <a:xfrm>
            <a:off x="7132320" y="3054096"/>
            <a:ext cx="4297680" cy="594360"/>
          </a:xfrm>
          <a:prstGeom prst="rect">
            <a:avLst/>
          </a:prstGeom>
          <a:noFill/>
        </p:spPr>
        <p:txBody>
          <a:bodyPr wrap="square" anchor="t" lIns="0" rIns="0" tIns="0" bIns="0">
            <a:spAutoFit/>
          </a:bodyPr>
          <a:lstStyle/>
          <a:p>
            <a:pPr algn="l">
              <a:spcAft>
                <a:spcPts val="0"/>
              </a:spcAft>
            </a:pPr>
            <a:r>
              <a:rPr sz="1150" b="0" i="0">
                <a:solidFill>
                  <a:srgbClr val="5F6B6D"/>
                </a:solidFill>
              </a:rPr>
              <a:t>Verified hosts at their own rates: request → host accepts → pay by UPI or card (Razorpay)</a:t>
            </a:r>
          </a:p>
        </p:txBody>
      </p:sp>
      <p:sp>
        <p:nvSpPr>
          <p:cNvPr id="24" name="Rounded Rectangle 23"/>
          <p:cNvSpPr/>
          <p:nvPr/>
        </p:nvSpPr>
        <p:spPr>
          <a:xfrm>
            <a:off x="548640" y="3822191"/>
            <a:ext cx="5440680" cy="1024128"/>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059935"/>
            <a:ext cx="548640" cy="548640"/>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bowl-w.png"/>
          <p:cNvPicPr>
            <a:picLocks noChangeAspect="1"/>
          </p:cNvPicPr>
          <p:nvPr/>
        </p:nvPicPr>
        <p:blipFill>
          <a:blip r:embed="rId6"/>
          <a:stretch>
            <a:fillRect/>
          </a:stretch>
        </p:blipFill>
        <p:spPr>
          <a:xfrm>
            <a:off x="886968" y="4197096"/>
            <a:ext cx="274320" cy="274320"/>
          </a:xfrm>
          <a:prstGeom prst="rect">
            <a:avLst/>
          </a:prstGeom>
        </p:spPr>
      </p:pic>
      <p:sp>
        <p:nvSpPr>
          <p:cNvPr id="27" name="TextBox 26"/>
          <p:cNvSpPr txBox="1"/>
          <p:nvPr/>
        </p:nvSpPr>
        <p:spPr>
          <a:xfrm>
            <a:off x="1508760" y="3931920"/>
            <a:ext cx="4297680" cy="320040"/>
          </a:xfrm>
          <a:prstGeom prst="rect">
            <a:avLst/>
          </a:prstGeom>
          <a:noFill/>
        </p:spPr>
        <p:txBody>
          <a:bodyPr wrap="square" anchor="t" lIns="0" rIns="0" tIns="0" bIns="0">
            <a:spAutoFit/>
          </a:bodyPr>
          <a:lstStyle/>
          <a:p>
            <a:pPr algn="l">
              <a:spcAft>
                <a:spcPts val="0"/>
              </a:spcAft>
            </a:pPr>
            <a:r>
              <a:rPr sz="1400" b="1" i="0">
                <a:solidFill>
                  <a:srgbClr val="C8385A"/>
                </a:solidFill>
              </a:rPr>
              <a:t>PS 6  </a:t>
            </a:r>
            <a:r>
              <a:rPr sz="1400" b="1" i="0">
                <a:solidFill>
                  <a:srgbClr val="1B2A2F"/>
                </a:solidFill>
              </a:rPr>
              <a:t>Taste of Manipur</a:t>
            </a:r>
          </a:p>
        </p:txBody>
      </p:sp>
      <p:sp>
        <p:nvSpPr>
          <p:cNvPr id="28" name="TextBox 27"/>
          <p:cNvSpPr txBox="1"/>
          <p:nvPr/>
        </p:nvSpPr>
        <p:spPr>
          <a:xfrm>
            <a:off x="1508760" y="4233672"/>
            <a:ext cx="4297680" cy="594360"/>
          </a:xfrm>
          <a:prstGeom prst="rect">
            <a:avLst/>
          </a:prstGeom>
          <a:noFill/>
        </p:spPr>
        <p:txBody>
          <a:bodyPr wrap="square" anchor="t" lIns="0" rIns="0" tIns="0" bIns="0">
            <a:spAutoFit/>
          </a:bodyPr>
          <a:lstStyle/>
          <a:p>
            <a:pPr algn="l">
              <a:spcAft>
                <a:spcPts val="0"/>
              </a:spcAft>
            </a:pPr>
            <a:r>
              <a:rPr sz="1150" b="0" i="0">
                <a:solidFill>
                  <a:srgbClr val="5F6B6D"/>
                </a:solidFill>
              </a:rPr>
              <a:t>12 traditional dishes with ingredients and stories, 4 food trails, and who serves them</a:t>
            </a:r>
          </a:p>
        </p:txBody>
      </p:sp>
      <p:sp>
        <p:nvSpPr>
          <p:cNvPr id="29" name="Rounded Rectangle 28"/>
          <p:cNvSpPr/>
          <p:nvPr/>
        </p:nvSpPr>
        <p:spPr>
          <a:xfrm>
            <a:off x="6172200" y="3822191"/>
            <a:ext cx="5440680" cy="1024128"/>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73368" y="4059935"/>
            <a:ext cx="548640" cy="548640"/>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cal-w.png"/>
          <p:cNvPicPr>
            <a:picLocks noChangeAspect="1"/>
          </p:cNvPicPr>
          <p:nvPr/>
        </p:nvPicPr>
        <p:blipFill>
          <a:blip r:embed="rId7"/>
          <a:stretch>
            <a:fillRect/>
          </a:stretch>
        </p:blipFill>
        <p:spPr>
          <a:xfrm>
            <a:off x="6510528" y="4197096"/>
            <a:ext cx="274320" cy="274320"/>
          </a:xfrm>
          <a:prstGeom prst="rect">
            <a:avLst/>
          </a:prstGeom>
        </p:spPr>
      </p:pic>
      <p:sp>
        <p:nvSpPr>
          <p:cNvPr id="32" name="TextBox 31"/>
          <p:cNvSpPr txBox="1"/>
          <p:nvPr/>
        </p:nvSpPr>
        <p:spPr>
          <a:xfrm>
            <a:off x="7132320" y="3931920"/>
            <a:ext cx="4297680" cy="320040"/>
          </a:xfrm>
          <a:prstGeom prst="rect">
            <a:avLst/>
          </a:prstGeom>
          <a:noFill/>
        </p:spPr>
        <p:txBody>
          <a:bodyPr wrap="square" anchor="t" lIns="0" rIns="0" tIns="0" bIns="0">
            <a:spAutoFit/>
          </a:bodyPr>
          <a:lstStyle/>
          <a:p>
            <a:pPr algn="l">
              <a:spcAft>
                <a:spcPts val="0"/>
              </a:spcAft>
            </a:pPr>
            <a:r>
              <a:rPr sz="1400" b="1" i="0">
                <a:solidFill>
                  <a:srgbClr val="C8385A"/>
                </a:solidFill>
              </a:rPr>
              <a:t>PS 7  </a:t>
            </a:r>
            <a:r>
              <a:rPr sz="1400" b="1" i="0">
                <a:solidFill>
                  <a:srgbClr val="1B2A2F"/>
                </a:solidFill>
              </a:rPr>
              <a:t>Events &amp; Festivals</a:t>
            </a:r>
          </a:p>
        </p:txBody>
      </p:sp>
      <p:sp>
        <p:nvSpPr>
          <p:cNvPr id="33" name="TextBox 32"/>
          <p:cNvSpPr txBox="1"/>
          <p:nvPr/>
        </p:nvSpPr>
        <p:spPr>
          <a:xfrm>
            <a:off x="7132320" y="4233672"/>
            <a:ext cx="4297680" cy="594360"/>
          </a:xfrm>
          <a:prstGeom prst="rect">
            <a:avLst/>
          </a:prstGeom>
          <a:noFill/>
        </p:spPr>
        <p:txBody>
          <a:bodyPr wrap="square" anchor="t" lIns="0" rIns="0" tIns="0" bIns="0">
            <a:spAutoFit/>
          </a:bodyPr>
          <a:lstStyle/>
          <a:p>
            <a:pPr algn="l">
              <a:spcAft>
                <a:spcPts val="0"/>
              </a:spcAft>
            </a:pPr>
            <a:r>
              <a:rPr sz="1150" b="0" i="0">
                <a:solidFill>
                  <a:srgbClr val="5F6B6D"/>
                </a:solidFill>
              </a:rPr>
              <a:t>Filterable calendar of 15 events, registration and ticketing with live capacity</a:t>
            </a:r>
          </a:p>
        </p:txBody>
      </p:sp>
      <p:sp>
        <p:nvSpPr>
          <p:cNvPr id="34" name="Rounded Rectangle 33"/>
          <p:cNvSpPr/>
          <p:nvPr/>
        </p:nvSpPr>
        <p:spPr>
          <a:xfrm>
            <a:off x="548640" y="5001768"/>
            <a:ext cx="5440680" cy="1024128"/>
          </a:xfrm>
          <a:prstGeom prst="roundRect">
            <a:avLst>
              <a:gd name="adj" fmla="val 8000"/>
            </a:avLst>
          </a:prstGeom>
          <a:solidFill>
            <a:srgbClr val="E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49808" y="5239512"/>
            <a:ext cx="548640" cy="548640"/>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star-w.png"/>
          <p:cNvPicPr>
            <a:picLocks noChangeAspect="1"/>
          </p:cNvPicPr>
          <p:nvPr/>
        </p:nvPicPr>
        <p:blipFill>
          <a:blip r:embed="rId8"/>
          <a:stretch>
            <a:fillRect/>
          </a:stretch>
        </p:blipFill>
        <p:spPr>
          <a:xfrm>
            <a:off x="886968" y="5376672"/>
            <a:ext cx="274320" cy="274320"/>
          </a:xfrm>
          <a:prstGeom prst="rect">
            <a:avLst/>
          </a:prstGeom>
        </p:spPr>
      </p:pic>
      <p:sp>
        <p:nvSpPr>
          <p:cNvPr id="37" name="TextBox 36"/>
          <p:cNvSpPr txBox="1"/>
          <p:nvPr/>
        </p:nvSpPr>
        <p:spPr>
          <a:xfrm>
            <a:off x="1508760" y="5111496"/>
            <a:ext cx="4297680" cy="320040"/>
          </a:xfrm>
          <a:prstGeom prst="rect">
            <a:avLst/>
          </a:prstGeom>
          <a:noFill/>
        </p:spPr>
        <p:txBody>
          <a:bodyPr wrap="square" anchor="t" lIns="0" rIns="0" tIns="0" bIns="0">
            <a:spAutoFit/>
          </a:bodyPr>
          <a:lstStyle/>
          <a:p>
            <a:pPr algn="l">
              <a:spcAft>
                <a:spcPts val="0"/>
              </a:spcAft>
            </a:pPr>
            <a:r>
              <a:rPr sz="1400" b="1" i="0">
                <a:solidFill>
                  <a:srgbClr val="C8385A"/>
                </a:solidFill>
              </a:rPr>
              <a:t>PS 8  </a:t>
            </a:r>
            <a:r>
              <a:rPr sz="1400" b="1" i="0">
                <a:solidFill>
                  <a:srgbClr val="1B2A2F"/>
                </a:solidFill>
              </a:rPr>
              <a:t>One-Stop Guide</a:t>
            </a:r>
          </a:p>
        </p:txBody>
      </p:sp>
      <p:sp>
        <p:nvSpPr>
          <p:cNvPr id="38" name="TextBox 37"/>
          <p:cNvSpPr txBox="1"/>
          <p:nvPr/>
        </p:nvSpPr>
        <p:spPr>
          <a:xfrm>
            <a:off x="1508760" y="5413248"/>
            <a:ext cx="4297680" cy="594360"/>
          </a:xfrm>
          <a:prstGeom prst="rect">
            <a:avLst/>
          </a:prstGeom>
          <a:noFill/>
        </p:spPr>
        <p:txBody>
          <a:bodyPr wrap="square" anchor="t" lIns="0" rIns="0" tIns="0" bIns="0">
            <a:spAutoFit/>
          </a:bodyPr>
          <a:lstStyle/>
          <a:p>
            <a:pPr algn="l">
              <a:spcAft>
                <a:spcPts val="0"/>
              </a:spcAft>
            </a:pPr>
            <a:r>
              <a:rPr sz="1150" b="0" i="0">
                <a:solidFill>
                  <a:srgbClr val="5F6B6D"/>
                </a:solidFill>
              </a:rPr>
              <a:t>All of the above + heritage, shopping &amp; crafts, emergency help, QR check-in, feedback, payments</a:t>
            </a:r>
          </a:p>
        </p:txBody>
      </p:sp>
      <p:sp>
        <p:nvSpPr>
          <p:cNvPr id="39" name="Rounded Rectangle 38"/>
          <p:cNvSpPr/>
          <p:nvPr/>
        </p:nvSpPr>
        <p:spPr>
          <a:xfrm>
            <a:off x="6172200" y="5001768"/>
            <a:ext cx="5440680" cy="1024128"/>
          </a:xfrm>
          <a:prstGeom prst="roundRect">
            <a:avLst>
              <a:gd name="adj" fmla="val 8000"/>
            </a:avLst>
          </a:prstGeom>
          <a:solidFill>
            <a:srgbClr val="FBE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373368" y="5239512"/>
            <a:ext cx="548640" cy="548640"/>
          </a:xfrm>
          <a:prstGeom prst="ellipse">
            <a:avLst/>
          </a:prstGeom>
          <a:solidFill>
            <a:srgbClr val="C8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phone-w.png"/>
          <p:cNvPicPr>
            <a:picLocks noChangeAspect="1"/>
          </p:cNvPicPr>
          <p:nvPr/>
        </p:nvPicPr>
        <p:blipFill>
          <a:blip r:embed="rId9"/>
          <a:stretch>
            <a:fillRect/>
          </a:stretch>
        </p:blipFill>
        <p:spPr>
          <a:xfrm>
            <a:off x="6510528" y="5376672"/>
            <a:ext cx="274320" cy="274320"/>
          </a:xfrm>
          <a:prstGeom prst="rect">
            <a:avLst/>
          </a:prstGeom>
        </p:spPr>
      </p:pic>
      <p:sp>
        <p:nvSpPr>
          <p:cNvPr id="42" name="TextBox 41"/>
          <p:cNvSpPr txBox="1"/>
          <p:nvPr/>
        </p:nvSpPr>
        <p:spPr>
          <a:xfrm>
            <a:off x="7132320" y="5111496"/>
            <a:ext cx="4297680" cy="320040"/>
          </a:xfrm>
          <a:prstGeom prst="rect">
            <a:avLst/>
          </a:prstGeom>
          <a:noFill/>
        </p:spPr>
        <p:txBody>
          <a:bodyPr wrap="square" anchor="t" lIns="0" rIns="0" tIns="0" bIns="0">
            <a:spAutoFit/>
          </a:bodyPr>
          <a:lstStyle/>
          <a:p>
            <a:pPr algn="l">
              <a:spcAft>
                <a:spcPts val="0"/>
              </a:spcAft>
            </a:pPr>
            <a:r>
              <a:rPr sz="1400" b="1" i="0">
                <a:solidFill>
                  <a:srgbClr val="1B2A2F"/>
                </a:solidFill>
              </a:rPr>
              <a:t>Everywhere</a:t>
            </a:r>
          </a:p>
        </p:txBody>
      </p:sp>
      <p:sp>
        <p:nvSpPr>
          <p:cNvPr id="43" name="TextBox 42"/>
          <p:cNvSpPr txBox="1"/>
          <p:nvPr/>
        </p:nvSpPr>
        <p:spPr>
          <a:xfrm>
            <a:off x="7132320" y="5413248"/>
            <a:ext cx="4297680" cy="594360"/>
          </a:xfrm>
          <a:prstGeom prst="rect">
            <a:avLst/>
          </a:prstGeom>
          <a:noFill/>
        </p:spPr>
        <p:txBody>
          <a:bodyPr wrap="square" anchor="t" lIns="0" rIns="0" tIns="0" bIns="0">
            <a:spAutoFit/>
          </a:bodyPr>
          <a:lstStyle/>
          <a:p>
            <a:pPr algn="l">
              <a:spcAft>
                <a:spcPts val="0"/>
              </a:spcAft>
            </a:pPr>
            <a:r>
              <a:rPr sz="1150" b="0" i="0">
                <a:solidFill>
                  <a:srgbClr val="5F6B6D"/>
                </a:solidFill>
              </a:rPr>
              <a:t>Desktop web, phone app at /m and an Android APK — on one server and one dataset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685800"/>
          </a:xfrm>
        </p:spPr>
        <p:txBody>
          <a:bodyPr wrap="square" anchor="t" lIns="0" rIns="0" tIns="0" bIns="0"/>
          <a:lstStyle/>
          <a:p>
            <a:pPr algn="l"/>
            <a:r>
              <a:rPr sz="3000" b="1">
                <a:solidFill>
                  <a:srgbClr val="1B2A2F"/>
                </a:solidFill>
                <a:latin typeface="Calibri"/>
              </a:rPr>
              <a:t>Proposed Solution — what makes it original</a:t>
            </a:r>
          </a:p>
        </p:txBody>
      </p:sp>
      <p:sp>
        <p:nvSpPr>
          <p:cNvPr id="3" name="TextBox 2"/>
          <p:cNvSpPr txBox="1"/>
          <p:nvPr/>
        </p:nvSpPr>
        <p:spPr>
          <a:xfrm>
            <a:off x="548640" y="987552"/>
            <a:ext cx="11064240" cy="320040"/>
          </a:xfrm>
          <a:prstGeom prst="rect">
            <a:avLst/>
          </a:prstGeom>
          <a:noFill/>
        </p:spPr>
        <p:txBody>
          <a:bodyPr wrap="square" anchor="t" lIns="0" rIns="0" tIns="0" bIns="0">
            <a:spAutoFit/>
          </a:bodyPr>
          <a:lstStyle/>
          <a:p>
            <a:pPr algn="l">
              <a:spcAft>
                <a:spcPts val="0"/>
              </a:spcAft>
            </a:pPr>
            <a:r>
              <a:rPr sz="1400" b="0" i="1">
                <a:solidFill>
                  <a:srgbClr val="5F6B6D"/>
                </a:solidFill>
              </a:rPr>
              <a:t>Not another directory or chatbot itinerary: a trustworthy tourism layer for Manipur</a:t>
            </a:r>
          </a:p>
        </p:txBody>
      </p:sp>
      <p:sp>
        <p:nvSpPr>
          <p:cNvPr id="4" name="Oval 3"/>
          <p:cNvSpPr/>
          <p:nvPr/>
        </p:nvSpPr>
        <p:spPr>
          <a:xfrm>
            <a:off x="548640" y="1554480"/>
            <a:ext cx="603504" cy="603504"/>
          </a:xfrm>
          <a:prstGeom prst="ellipse">
            <a:avLst/>
          </a:prstGeom>
          <a:solidFill>
            <a:srgbClr val="C8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op-w.png"/>
          <p:cNvPicPr>
            <a:picLocks noChangeAspect="1"/>
          </p:cNvPicPr>
          <p:nvPr/>
        </p:nvPicPr>
        <p:blipFill>
          <a:blip r:embed="rId2"/>
          <a:stretch>
            <a:fillRect/>
          </a:stretch>
        </p:blipFill>
        <p:spPr>
          <a:xfrm>
            <a:off x="699516" y="1705356"/>
            <a:ext cx="301752" cy="301752"/>
          </a:xfrm>
          <a:prstGeom prst="rect">
            <a:avLst/>
          </a:prstGeom>
        </p:spPr>
      </p:pic>
      <p:sp>
        <p:nvSpPr>
          <p:cNvPr id="6" name="TextBox 5"/>
          <p:cNvSpPr txBox="1"/>
          <p:nvPr/>
        </p:nvSpPr>
        <p:spPr>
          <a:xfrm>
            <a:off x="1371600" y="1499616"/>
            <a:ext cx="5852160" cy="365760"/>
          </a:xfrm>
          <a:prstGeom prst="rect">
            <a:avLst/>
          </a:prstGeom>
          <a:noFill/>
        </p:spPr>
        <p:txBody>
          <a:bodyPr wrap="square" anchor="t" lIns="0" rIns="0" tIns="0" bIns="0">
            <a:spAutoFit/>
          </a:bodyPr>
          <a:lstStyle/>
          <a:p>
            <a:pPr algn="l">
              <a:spcAft>
                <a:spcPts val="0"/>
              </a:spcAft>
            </a:pPr>
            <a:r>
              <a:rPr sz="1600" b="1" i="0">
                <a:solidFill>
                  <a:srgbClr val="1B2A2F"/>
                </a:solidFill>
              </a:rPr>
              <a:t>A closed loop, not a brochure</a:t>
            </a:r>
          </a:p>
        </p:txBody>
      </p:sp>
      <p:sp>
        <p:nvSpPr>
          <p:cNvPr id="7" name="TextBox 6"/>
          <p:cNvSpPr txBox="1"/>
          <p:nvPr/>
        </p:nvSpPr>
        <p:spPr>
          <a:xfrm>
            <a:off x="1371600" y="1847088"/>
            <a:ext cx="5852160" cy="502920"/>
          </a:xfrm>
          <a:prstGeom prst="rect">
            <a:avLst/>
          </a:prstGeom>
          <a:noFill/>
        </p:spPr>
        <p:txBody>
          <a:bodyPr wrap="square" anchor="t" lIns="0" rIns="0" tIns="0" bIns="0">
            <a:spAutoFit/>
          </a:bodyPr>
          <a:lstStyle/>
          <a:p>
            <a:pPr algn="l">
              <a:spcAft>
                <a:spcPts val="0"/>
              </a:spcAft>
            </a:pPr>
            <a:r>
              <a:rPr sz="1200" b="0" i="0">
                <a:solidFill>
                  <a:srgbClr val="5F6B6D"/>
                </a:solidFill>
              </a:rPr>
              <a:t>Promotion, planning, bookings and feedback share one record, so every visit teaches the next decision.</a:t>
            </a:r>
          </a:p>
        </p:txBody>
      </p:sp>
      <p:sp>
        <p:nvSpPr>
          <p:cNvPr id="8" name="Oval 7"/>
          <p:cNvSpPr/>
          <p:nvPr/>
        </p:nvSpPr>
        <p:spPr>
          <a:xfrm>
            <a:off x="548640" y="2487168"/>
            <a:ext cx="603504" cy="603504"/>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ag-w.png"/>
          <p:cNvPicPr>
            <a:picLocks noChangeAspect="1"/>
          </p:cNvPicPr>
          <p:nvPr/>
        </p:nvPicPr>
        <p:blipFill>
          <a:blip r:embed="rId3"/>
          <a:stretch>
            <a:fillRect/>
          </a:stretch>
        </p:blipFill>
        <p:spPr>
          <a:xfrm>
            <a:off x="699516" y="2638044"/>
            <a:ext cx="301752" cy="301752"/>
          </a:xfrm>
          <a:prstGeom prst="rect">
            <a:avLst/>
          </a:prstGeom>
        </p:spPr>
      </p:pic>
      <p:sp>
        <p:nvSpPr>
          <p:cNvPr id="10" name="TextBox 9"/>
          <p:cNvSpPr txBox="1"/>
          <p:nvPr/>
        </p:nvSpPr>
        <p:spPr>
          <a:xfrm>
            <a:off x="1371600" y="2432304"/>
            <a:ext cx="5852160" cy="365760"/>
          </a:xfrm>
          <a:prstGeom prst="rect">
            <a:avLst/>
          </a:prstGeom>
          <a:noFill/>
        </p:spPr>
        <p:txBody>
          <a:bodyPr wrap="square" anchor="t" lIns="0" rIns="0" tIns="0" bIns="0">
            <a:spAutoFit/>
          </a:bodyPr>
          <a:lstStyle/>
          <a:p>
            <a:pPr algn="l">
              <a:spcAft>
                <a:spcPts val="0"/>
              </a:spcAft>
            </a:pPr>
            <a:r>
              <a:rPr sz="1600" b="1" i="0">
                <a:solidFill>
                  <a:srgbClr val="1B2A2F"/>
                </a:solidFill>
              </a:rPr>
              <a:t>Every number shows its source</a:t>
            </a:r>
          </a:p>
        </p:txBody>
      </p:sp>
      <p:sp>
        <p:nvSpPr>
          <p:cNvPr id="11" name="TextBox 10"/>
          <p:cNvSpPr txBox="1"/>
          <p:nvPr/>
        </p:nvSpPr>
        <p:spPr>
          <a:xfrm>
            <a:off x="1371600" y="2779776"/>
            <a:ext cx="5852160" cy="502920"/>
          </a:xfrm>
          <a:prstGeom prst="rect">
            <a:avLst/>
          </a:prstGeom>
          <a:noFill/>
        </p:spPr>
        <p:txBody>
          <a:bodyPr wrap="square" anchor="t" lIns="0" rIns="0" tIns="0" bIns="0">
            <a:spAutoFit/>
          </a:bodyPr>
          <a:lstStyle/>
          <a:p>
            <a:pPr algn="l">
              <a:spcAft>
                <a:spcPts val="0"/>
              </a:spcAft>
            </a:pPr>
            <a:r>
              <a:rPr sz="1200" b="0" i="0">
                <a:solidFill>
                  <a:srgbClr val="5F6B6D"/>
                </a:solidFill>
              </a:rPr>
              <a:t>Seven provenance labels (official, partner, observed, estimated…) are enforced in code on every figure.</a:t>
            </a:r>
          </a:p>
        </p:txBody>
      </p:sp>
      <p:sp>
        <p:nvSpPr>
          <p:cNvPr id="12" name="Oval 11"/>
          <p:cNvSpPr/>
          <p:nvPr/>
        </p:nvSpPr>
        <p:spPr>
          <a:xfrm>
            <a:off x="548640" y="3419856"/>
            <a:ext cx="603504" cy="603504"/>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hield-w.png"/>
          <p:cNvPicPr>
            <a:picLocks noChangeAspect="1"/>
          </p:cNvPicPr>
          <p:nvPr/>
        </p:nvPicPr>
        <p:blipFill>
          <a:blip r:embed="rId4"/>
          <a:stretch>
            <a:fillRect/>
          </a:stretch>
        </p:blipFill>
        <p:spPr>
          <a:xfrm>
            <a:off x="699516" y="3570732"/>
            <a:ext cx="301752" cy="301752"/>
          </a:xfrm>
          <a:prstGeom prst="rect">
            <a:avLst/>
          </a:prstGeom>
        </p:spPr>
      </p:pic>
      <p:sp>
        <p:nvSpPr>
          <p:cNvPr id="14" name="TextBox 13"/>
          <p:cNvSpPr txBox="1"/>
          <p:nvPr/>
        </p:nvSpPr>
        <p:spPr>
          <a:xfrm>
            <a:off x="1371600" y="3364992"/>
            <a:ext cx="5852160" cy="365760"/>
          </a:xfrm>
          <a:prstGeom prst="rect">
            <a:avLst/>
          </a:prstGeom>
          <a:noFill/>
        </p:spPr>
        <p:txBody>
          <a:bodyPr wrap="square" anchor="t" lIns="0" rIns="0" tIns="0" bIns="0">
            <a:spAutoFit/>
          </a:bodyPr>
          <a:lstStyle/>
          <a:p>
            <a:pPr algn="l">
              <a:spcAft>
                <a:spcPts val="0"/>
              </a:spcAft>
            </a:pPr>
            <a:r>
              <a:rPr sz="1600" b="1" i="0">
                <a:solidFill>
                  <a:srgbClr val="1B2A2F"/>
                </a:solidFill>
              </a:rPr>
              <a:t>AI that cannot invent facts</a:t>
            </a:r>
          </a:p>
        </p:txBody>
      </p:sp>
      <p:sp>
        <p:nvSpPr>
          <p:cNvPr id="15" name="TextBox 14"/>
          <p:cNvSpPr txBox="1"/>
          <p:nvPr/>
        </p:nvSpPr>
        <p:spPr>
          <a:xfrm>
            <a:off x="1371600" y="3712464"/>
            <a:ext cx="5852160" cy="502920"/>
          </a:xfrm>
          <a:prstGeom prst="rect">
            <a:avLst/>
          </a:prstGeom>
          <a:noFill/>
        </p:spPr>
        <p:txBody>
          <a:bodyPr wrap="square" anchor="t" lIns="0" rIns="0" tIns="0" bIns="0">
            <a:spAutoFit/>
          </a:bodyPr>
          <a:lstStyle/>
          <a:p>
            <a:pPr algn="l">
              <a:spcAft>
                <a:spcPts val="0"/>
              </a:spcAft>
            </a:pPr>
            <a:r>
              <a:rPr sz="1200" b="0" i="0">
                <a:solidFill>
                  <a:srgbClr val="5F6B6D"/>
                </a:solidFill>
              </a:rPr>
              <a:t>Figures are computed first; the AI only writes the words. A rewrite that adds a number is thrown away.</a:t>
            </a:r>
          </a:p>
        </p:txBody>
      </p:sp>
      <p:sp>
        <p:nvSpPr>
          <p:cNvPr id="16" name="Oval 15"/>
          <p:cNvSpPr/>
          <p:nvPr/>
        </p:nvSpPr>
        <p:spPr>
          <a:xfrm>
            <a:off x="548640" y="4352544"/>
            <a:ext cx="603504" cy="603504"/>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tore-w.png"/>
          <p:cNvPicPr>
            <a:picLocks noChangeAspect="1"/>
          </p:cNvPicPr>
          <p:nvPr/>
        </p:nvPicPr>
        <p:blipFill>
          <a:blip r:embed="rId5"/>
          <a:stretch>
            <a:fillRect/>
          </a:stretch>
        </p:blipFill>
        <p:spPr>
          <a:xfrm>
            <a:off x="699516" y="4503420"/>
            <a:ext cx="301752" cy="301752"/>
          </a:xfrm>
          <a:prstGeom prst="rect">
            <a:avLst/>
          </a:prstGeom>
        </p:spPr>
      </p:pic>
      <p:sp>
        <p:nvSpPr>
          <p:cNvPr id="18" name="TextBox 17"/>
          <p:cNvSpPr txBox="1"/>
          <p:nvPr/>
        </p:nvSpPr>
        <p:spPr>
          <a:xfrm>
            <a:off x="1371600" y="4297679"/>
            <a:ext cx="5852160" cy="365760"/>
          </a:xfrm>
          <a:prstGeom prst="rect">
            <a:avLst/>
          </a:prstGeom>
          <a:noFill/>
        </p:spPr>
        <p:txBody>
          <a:bodyPr wrap="square" anchor="t" lIns="0" rIns="0" tIns="0" bIns="0">
            <a:spAutoFit/>
          </a:bodyPr>
          <a:lstStyle/>
          <a:p>
            <a:pPr algn="l">
              <a:spcAft>
                <a:spcPts val="0"/>
              </a:spcAft>
            </a:pPr>
            <a:r>
              <a:rPr sz="1600" b="1" i="0">
                <a:solidFill>
                  <a:srgbClr val="1B2A2F"/>
                </a:solidFill>
              </a:rPr>
              <a:t>Local money stays local</a:t>
            </a:r>
          </a:p>
        </p:txBody>
      </p:sp>
      <p:sp>
        <p:nvSpPr>
          <p:cNvPr id="19" name="TextBox 18"/>
          <p:cNvSpPr txBox="1"/>
          <p:nvPr/>
        </p:nvSpPr>
        <p:spPr>
          <a:xfrm>
            <a:off x="1371600" y="4645152"/>
            <a:ext cx="5852160" cy="502920"/>
          </a:xfrm>
          <a:prstGeom prst="rect">
            <a:avLst/>
          </a:prstGeom>
          <a:noFill/>
        </p:spPr>
        <p:txBody>
          <a:bodyPr wrap="square" anchor="t" lIns="0" rIns="0" tIns="0" bIns="0">
            <a:spAutoFit/>
          </a:bodyPr>
          <a:lstStyle/>
          <a:p>
            <a:pPr algn="l">
              <a:spcAft>
                <a:spcPts val="0"/>
              </a:spcAft>
            </a:pPr>
            <a:r>
              <a:rPr sz="1200" b="0" i="0">
                <a:solidFill>
                  <a:srgbClr val="5F6B6D"/>
                </a:solidFill>
              </a:rPr>
              <a:t>Plans are built from verified Manipur hosts at their own rates. Online finds are labelled, never priced.</a:t>
            </a:r>
          </a:p>
        </p:txBody>
      </p:sp>
      <p:sp>
        <p:nvSpPr>
          <p:cNvPr id="20" name="Oval 19"/>
          <p:cNvSpPr/>
          <p:nvPr/>
        </p:nvSpPr>
        <p:spPr>
          <a:xfrm>
            <a:off x="548640" y="5285232"/>
            <a:ext cx="603504" cy="603504"/>
          </a:xfrm>
          <a:prstGeom prst="ellipse">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mic-w.png"/>
          <p:cNvPicPr>
            <a:picLocks noChangeAspect="1"/>
          </p:cNvPicPr>
          <p:nvPr/>
        </p:nvPicPr>
        <p:blipFill>
          <a:blip r:embed="rId6"/>
          <a:stretch>
            <a:fillRect/>
          </a:stretch>
        </p:blipFill>
        <p:spPr>
          <a:xfrm>
            <a:off x="699516" y="5436108"/>
            <a:ext cx="301752" cy="301752"/>
          </a:xfrm>
          <a:prstGeom prst="rect">
            <a:avLst/>
          </a:prstGeom>
        </p:spPr>
      </p:pic>
      <p:sp>
        <p:nvSpPr>
          <p:cNvPr id="22" name="TextBox 21"/>
          <p:cNvSpPr txBox="1"/>
          <p:nvPr/>
        </p:nvSpPr>
        <p:spPr>
          <a:xfrm>
            <a:off x="1371600" y="5230368"/>
            <a:ext cx="5852160" cy="365760"/>
          </a:xfrm>
          <a:prstGeom prst="rect">
            <a:avLst/>
          </a:prstGeom>
          <a:noFill/>
        </p:spPr>
        <p:txBody>
          <a:bodyPr wrap="square" anchor="t" lIns="0" rIns="0" tIns="0" bIns="0">
            <a:spAutoFit/>
          </a:bodyPr>
          <a:lstStyle/>
          <a:p>
            <a:pPr algn="l">
              <a:spcAft>
                <a:spcPts val="0"/>
              </a:spcAft>
            </a:pPr>
            <a:r>
              <a:rPr sz="1600" b="1" i="0">
                <a:solidFill>
                  <a:srgbClr val="1B2A2F"/>
                </a:solidFill>
              </a:rPr>
              <a:t>Built for Meiteilon</a:t>
            </a:r>
          </a:p>
        </p:txBody>
      </p:sp>
      <p:sp>
        <p:nvSpPr>
          <p:cNvPr id="23" name="TextBox 22"/>
          <p:cNvSpPr txBox="1"/>
          <p:nvPr/>
        </p:nvSpPr>
        <p:spPr>
          <a:xfrm>
            <a:off x="1371600" y="5577840"/>
            <a:ext cx="5852160" cy="502920"/>
          </a:xfrm>
          <a:prstGeom prst="rect">
            <a:avLst/>
          </a:prstGeom>
          <a:noFill/>
        </p:spPr>
        <p:txBody>
          <a:bodyPr wrap="square" anchor="t" lIns="0" rIns="0" tIns="0" bIns="0">
            <a:spAutoFit/>
          </a:bodyPr>
          <a:lstStyle/>
          <a:p>
            <a:pPr algn="l">
              <a:spcAft>
                <a:spcPts val="0"/>
              </a:spcAft>
            </a:pPr>
            <a:r>
              <a:rPr sz="1200" b="0" i="0">
                <a:solidFill>
                  <a:srgbClr val="5F6B6D"/>
                </a:solidFill>
              </a:rPr>
              <a:t>The interpreter refuses rather than guesses. Unchecked phrases wait for a Manipuri speaker.</a:t>
            </a:r>
          </a:p>
        </p:txBody>
      </p:sp>
      <p:pic>
        <p:nvPicPr>
          <p:cNvPr id="24" name="Picture 23" descr="dest-kangla.jpg"/>
          <p:cNvPicPr>
            <a:picLocks noChangeAspect="1"/>
          </p:cNvPicPr>
          <p:nvPr/>
        </p:nvPicPr>
        <p:blipFill>
          <a:blip r:embed="rId7"/>
          <a:srcRect l="16966" r="16966"/>
          <a:stretch>
            <a:fillRect/>
          </a:stretch>
        </p:blipFill>
        <p:spPr>
          <a:xfrm>
            <a:off x="7680960" y="1481328"/>
            <a:ext cx="3959352" cy="4480560"/>
          </a:xfrm>
          <a:prstGeom prst="rect">
            <a:avLst/>
          </a:prstGeom>
        </p:spPr>
      </p:pic>
      <p:sp>
        <p:nvSpPr>
          <p:cNvPr id="25" name="TextBox 24"/>
          <p:cNvSpPr txBox="1"/>
          <p:nvPr/>
        </p:nvSpPr>
        <p:spPr>
          <a:xfrm>
            <a:off x="7680960" y="5989320"/>
            <a:ext cx="3959352" cy="201168"/>
          </a:xfrm>
          <a:prstGeom prst="rect">
            <a:avLst/>
          </a:prstGeom>
          <a:noFill/>
        </p:spPr>
        <p:txBody>
          <a:bodyPr wrap="square" anchor="t" lIns="0" rIns="0" tIns="0" bIns="0">
            <a:spAutoFit/>
          </a:bodyPr>
          <a:lstStyle/>
          <a:p>
            <a:pPr algn="r">
              <a:spcAft>
                <a:spcPts val="0"/>
              </a:spcAft>
            </a:pPr>
            <a:r>
              <a:rPr sz="800" b="0" i="0">
                <a:solidFill>
                  <a:srgbClr val="5F6B6D"/>
                </a:solidFill>
              </a:rPr>
              <a:t>Kangla · Photo: Haoreima, CC BY-SA 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dest-shirui.jpg"/>
          <p:cNvPicPr>
            <a:picLocks noChangeAspect="1"/>
          </p:cNvPicPr>
          <p:nvPr/>
        </p:nvPicPr>
        <p:blipFill>
          <a:blip r:embed="rId2"/>
          <a:srcRect l="15844" r="15844"/>
          <a:stretch>
            <a:fillRect/>
          </a:stretch>
        </p:blipFill>
        <p:spPr>
          <a:xfrm>
            <a:off x="6702552" y="0"/>
            <a:ext cx="5486400" cy="6858000"/>
          </a:xfrm>
          <a:prstGeom prst="rect">
            <a:avLst/>
          </a:prstGeom>
        </p:spPr>
      </p:pic>
      <p:sp>
        <p:nvSpPr>
          <p:cNvPr id="2" name="Title 1"/>
          <p:cNvSpPr>
            <a:spLocks noGrp="1"/>
          </p:cNvSpPr>
          <p:nvPr>
            <p:ph type="title"/>
          </p:nvPr>
        </p:nvSpPr>
        <p:spPr>
          <a:xfrm>
            <a:off x="640080" y="548640"/>
            <a:ext cx="5760720" cy="731520"/>
          </a:xfrm>
        </p:spPr>
        <p:txBody>
          <a:bodyPr wrap="square" anchor="t" lIns="0" rIns="0" tIns="0" bIns="0"/>
          <a:lstStyle/>
          <a:p>
            <a:pPr algn="l"/>
            <a:r>
              <a:rPr sz="3600" b="1">
                <a:solidFill>
                  <a:srgbClr val="1B2A2F"/>
                </a:solidFill>
                <a:latin typeface="Calibri"/>
              </a:rPr>
              <a:t>Ready to pilot</a:t>
            </a:r>
          </a:p>
        </p:txBody>
      </p:sp>
      <p:sp>
        <p:nvSpPr>
          <p:cNvPr id="4" name="TextBox 3"/>
          <p:cNvSpPr txBox="1"/>
          <p:nvPr/>
        </p:nvSpPr>
        <p:spPr>
          <a:xfrm>
            <a:off x="6858000" y="6583680"/>
            <a:ext cx="5120640" cy="201168"/>
          </a:xfrm>
          <a:prstGeom prst="rect">
            <a:avLst/>
          </a:prstGeom>
          <a:noFill/>
        </p:spPr>
        <p:txBody>
          <a:bodyPr wrap="square" anchor="t" lIns="0" rIns="0" tIns="0" bIns="0">
            <a:spAutoFit/>
          </a:bodyPr>
          <a:lstStyle/>
          <a:p>
            <a:pPr algn="r">
              <a:spcAft>
                <a:spcPts val="0"/>
              </a:spcAft>
            </a:pPr>
            <a:r>
              <a:rPr sz="800" b="0" i="0">
                <a:solidFill>
                  <a:srgbClr val="FFFFFF"/>
                </a:solidFill>
              </a:rPr>
              <a:t>Shirui · Photo: Mashangva, CC BY-SA 4.0</a:t>
            </a:r>
          </a:p>
        </p:txBody>
      </p:sp>
      <p:sp>
        <p:nvSpPr>
          <p:cNvPr id="5" name="TextBox 4"/>
          <p:cNvSpPr txBox="1"/>
          <p:nvPr/>
        </p:nvSpPr>
        <p:spPr>
          <a:xfrm>
            <a:off x="640080" y="1280160"/>
            <a:ext cx="5760720" cy="411480"/>
          </a:xfrm>
          <a:prstGeom prst="rect">
            <a:avLst/>
          </a:prstGeom>
          <a:noFill/>
        </p:spPr>
        <p:txBody>
          <a:bodyPr wrap="square" anchor="t" lIns="0" rIns="0" tIns="0" bIns="0">
            <a:spAutoFit/>
          </a:bodyPr>
          <a:lstStyle/>
          <a:p>
            <a:pPr algn="l">
              <a:spcAft>
                <a:spcPts val="0"/>
              </a:spcAft>
            </a:pPr>
            <a:r>
              <a:rPr sz="1500" b="0" i="0">
                <a:solidFill>
                  <a:srgbClr val="5F6B6D"/>
                </a:solidFill>
              </a:rPr>
              <a:t>Live today — and a clear path to production</a:t>
            </a:r>
          </a:p>
        </p:txBody>
      </p:sp>
      <p:sp>
        <p:nvSpPr>
          <p:cNvPr id="6" name="TextBox 5"/>
          <p:cNvSpPr txBox="1"/>
          <p:nvPr/>
        </p:nvSpPr>
        <p:spPr>
          <a:xfrm>
            <a:off x="640080" y="1920240"/>
            <a:ext cx="5669280" cy="320040"/>
          </a:xfrm>
          <a:prstGeom prst="rect">
            <a:avLst/>
          </a:prstGeom>
          <a:noFill/>
        </p:spPr>
        <p:txBody>
          <a:bodyPr wrap="square" anchor="t" lIns="0" rIns="0" tIns="0" bIns="0">
            <a:spAutoFit/>
          </a:bodyPr>
          <a:lstStyle/>
          <a:p>
            <a:pPr algn="l">
              <a:spcAft>
                <a:spcPts val="0"/>
              </a:spcAft>
            </a:pPr>
            <a:r>
              <a:rPr sz="1200" b="1" i="0">
                <a:solidFill>
                  <a:srgbClr val="C8385A"/>
                </a:solidFill>
              </a:rPr>
              <a:t>LIVE NOW</a:t>
            </a:r>
          </a:p>
        </p:txBody>
      </p:sp>
      <p:pic>
        <p:nvPicPr>
          <p:cNvPr id="7" name="Picture 6" descr="check-p.png"/>
          <p:cNvPicPr>
            <a:picLocks noChangeAspect="1"/>
          </p:cNvPicPr>
          <p:nvPr/>
        </p:nvPicPr>
        <p:blipFill>
          <a:blip r:embed="rId3"/>
          <a:stretch>
            <a:fillRect/>
          </a:stretch>
        </p:blipFill>
        <p:spPr>
          <a:xfrm>
            <a:off x="640080" y="2331720"/>
            <a:ext cx="237744" cy="237744"/>
          </a:xfrm>
          <a:prstGeom prst="rect">
            <a:avLst/>
          </a:prstGeom>
        </p:spPr>
      </p:pic>
      <p:sp>
        <p:nvSpPr>
          <p:cNvPr id="8" name="TextBox 7"/>
          <p:cNvSpPr txBox="1"/>
          <p:nvPr/>
        </p:nvSpPr>
        <p:spPr>
          <a:xfrm>
            <a:off x="1005840" y="2286000"/>
            <a:ext cx="5303520" cy="365760"/>
          </a:xfrm>
          <a:prstGeom prst="rect">
            <a:avLst/>
          </a:prstGeom>
          <a:noFill/>
        </p:spPr>
        <p:txBody>
          <a:bodyPr wrap="square" anchor="t" lIns="0" rIns="0" tIns="0" bIns="0">
            <a:spAutoFit/>
          </a:bodyPr>
          <a:lstStyle/>
          <a:p>
            <a:pPr algn="l">
              <a:spcAft>
                <a:spcPts val="0"/>
              </a:spcAft>
            </a:pPr>
            <a:r>
              <a:rPr sz="1400" b="0" i="0">
                <a:solidFill>
                  <a:srgbClr val="1B2A2F"/>
                </a:solidFill>
              </a:rPr>
              <a:t>Web: onestop-manipur.vercel.app</a:t>
            </a:r>
          </a:p>
        </p:txBody>
      </p:sp>
      <p:pic>
        <p:nvPicPr>
          <p:cNvPr id="9" name="Picture 8" descr="check-p.png"/>
          <p:cNvPicPr>
            <a:picLocks noChangeAspect="1"/>
          </p:cNvPicPr>
          <p:nvPr/>
        </p:nvPicPr>
        <p:blipFill>
          <a:blip r:embed="rId3"/>
          <a:stretch>
            <a:fillRect/>
          </a:stretch>
        </p:blipFill>
        <p:spPr>
          <a:xfrm>
            <a:off x="640080" y="2743200"/>
            <a:ext cx="237744" cy="237744"/>
          </a:xfrm>
          <a:prstGeom prst="rect">
            <a:avLst/>
          </a:prstGeom>
        </p:spPr>
      </p:pic>
      <p:sp>
        <p:nvSpPr>
          <p:cNvPr id="10" name="TextBox 9"/>
          <p:cNvSpPr txBox="1"/>
          <p:nvPr/>
        </p:nvSpPr>
        <p:spPr>
          <a:xfrm>
            <a:off x="1005840" y="2697480"/>
            <a:ext cx="5303520" cy="365760"/>
          </a:xfrm>
          <a:prstGeom prst="rect">
            <a:avLst/>
          </a:prstGeom>
          <a:noFill/>
        </p:spPr>
        <p:txBody>
          <a:bodyPr wrap="square" anchor="t" lIns="0" rIns="0" tIns="0" bIns="0">
            <a:spAutoFit/>
          </a:bodyPr>
          <a:lstStyle/>
          <a:p>
            <a:pPr algn="l">
              <a:spcAft>
                <a:spcPts val="0"/>
              </a:spcAft>
            </a:pPr>
            <a:r>
              <a:rPr sz="1400" b="0" i="0">
                <a:solidFill>
                  <a:srgbClr val="1B2A2F"/>
                </a:solidFill>
              </a:rPr>
              <a:t>Phone app at /m and an Android APK</a:t>
            </a:r>
          </a:p>
        </p:txBody>
      </p:sp>
      <p:pic>
        <p:nvPicPr>
          <p:cNvPr id="11" name="Picture 10" descr="check-p.png"/>
          <p:cNvPicPr>
            <a:picLocks noChangeAspect="1"/>
          </p:cNvPicPr>
          <p:nvPr/>
        </p:nvPicPr>
        <p:blipFill>
          <a:blip r:embed="rId3"/>
          <a:stretch>
            <a:fillRect/>
          </a:stretch>
        </p:blipFill>
        <p:spPr>
          <a:xfrm>
            <a:off x="640080" y="3154679"/>
            <a:ext cx="237744" cy="237744"/>
          </a:xfrm>
          <a:prstGeom prst="rect">
            <a:avLst/>
          </a:prstGeom>
        </p:spPr>
      </p:pic>
      <p:sp>
        <p:nvSpPr>
          <p:cNvPr id="12" name="TextBox 11"/>
          <p:cNvSpPr txBox="1"/>
          <p:nvPr/>
        </p:nvSpPr>
        <p:spPr>
          <a:xfrm>
            <a:off x="1005840" y="3108960"/>
            <a:ext cx="5303520" cy="365760"/>
          </a:xfrm>
          <a:prstGeom prst="rect">
            <a:avLst/>
          </a:prstGeom>
          <a:noFill/>
        </p:spPr>
        <p:txBody>
          <a:bodyPr wrap="square" anchor="t" lIns="0" rIns="0" tIns="0" bIns="0">
            <a:spAutoFit/>
          </a:bodyPr>
          <a:lstStyle/>
          <a:p>
            <a:pPr algn="l">
              <a:spcAft>
                <a:spcPts val="0"/>
              </a:spcAft>
            </a:pPr>
            <a:r>
              <a:rPr sz="1400" b="0" i="0">
                <a:solidFill>
                  <a:srgbClr val="1B2A2F"/>
                </a:solidFill>
              </a:rPr>
              <a:t>Full demo in 5 minutes, runs offline</a:t>
            </a:r>
          </a:p>
        </p:txBody>
      </p:sp>
      <p:sp>
        <p:nvSpPr>
          <p:cNvPr id="13" name="TextBox 12"/>
          <p:cNvSpPr txBox="1"/>
          <p:nvPr/>
        </p:nvSpPr>
        <p:spPr>
          <a:xfrm>
            <a:off x="640080" y="3657600"/>
            <a:ext cx="5669280" cy="320040"/>
          </a:xfrm>
          <a:prstGeom prst="rect">
            <a:avLst/>
          </a:prstGeom>
          <a:noFill/>
        </p:spPr>
        <p:txBody>
          <a:bodyPr wrap="square" anchor="t" lIns="0" rIns="0" tIns="0" bIns="0">
            <a:spAutoFit/>
          </a:bodyPr>
          <a:lstStyle/>
          <a:p>
            <a:pPr algn="l">
              <a:spcAft>
                <a:spcPts val="0"/>
              </a:spcAft>
            </a:pPr>
            <a:r>
              <a:rPr sz="1200" b="1" i="0">
                <a:solidFill>
                  <a:srgbClr val="C8385A"/>
                </a:solidFill>
              </a:rPr>
              <a:t>NEXT 90 DAYS</a:t>
            </a:r>
          </a:p>
        </p:txBody>
      </p:sp>
      <p:pic>
        <p:nvPicPr>
          <p:cNvPr id="14" name="Picture 13" descr="rocket-a.png"/>
          <p:cNvPicPr>
            <a:picLocks noChangeAspect="1"/>
          </p:cNvPicPr>
          <p:nvPr/>
        </p:nvPicPr>
        <p:blipFill>
          <a:blip r:embed="rId4"/>
          <a:stretch>
            <a:fillRect/>
          </a:stretch>
        </p:blipFill>
        <p:spPr>
          <a:xfrm>
            <a:off x="640080" y="4069080"/>
            <a:ext cx="237744" cy="237744"/>
          </a:xfrm>
          <a:prstGeom prst="rect">
            <a:avLst/>
          </a:prstGeom>
        </p:spPr>
      </p:pic>
      <p:sp>
        <p:nvSpPr>
          <p:cNvPr id="15" name="TextBox 14"/>
          <p:cNvSpPr txBox="1"/>
          <p:nvPr/>
        </p:nvSpPr>
        <p:spPr>
          <a:xfrm>
            <a:off x="1005840" y="4023360"/>
            <a:ext cx="5303520" cy="365760"/>
          </a:xfrm>
          <a:prstGeom prst="rect">
            <a:avLst/>
          </a:prstGeom>
          <a:noFill/>
        </p:spPr>
        <p:txBody>
          <a:bodyPr wrap="square" anchor="t" lIns="0" rIns="0" tIns="0" bIns="0">
            <a:spAutoFit/>
          </a:bodyPr>
          <a:lstStyle/>
          <a:p>
            <a:pPr algn="l">
              <a:spcAft>
                <a:spcPts val="0"/>
              </a:spcAft>
            </a:pPr>
            <a:r>
              <a:rPr sz="1400" b="0" i="0">
                <a:solidFill>
                  <a:srgbClr val="1B2A2F"/>
                </a:solidFill>
              </a:rPr>
              <a:t>Connect Meiteilon speech models, checked by native speakers</a:t>
            </a:r>
          </a:p>
        </p:txBody>
      </p:sp>
      <p:pic>
        <p:nvPicPr>
          <p:cNvPr id="16" name="Picture 15" descr="rocket-a.png"/>
          <p:cNvPicPr>
            <a:picLocks noChangeAspect="1"/>
          </p:cNvPicPr>
          <p:nvPr/>
        </p:nvPicPr>
        <p:blipFill>
          <a:blip r:embed="rId4"/>
          <a:stretch>
            <a:fillRect/>
          </a:stretch>
        </p:blipFill>
        <p:spPr>
          <a:xfrm>
            <a:off x="640080" y="4480560"/>
            <a:ext cx="237744" cy="237744"/>
          </a:xfrm>
          <a:prstGeom prst="rect">
            <a:avLst/>
          </a:prstGeom>
        </p:spPr>
      </p:pic>
      <p:sp>
        <p:nvSpPr>
          <p:cNvPr id="17" name="TextBox 16"/>
          <p:cNvSpPr txBox="1"/>
          <p:nvPr/>
        </p:nvSpPr>
        <p:spPr>
          <a:xfrm>
            <a:off x="1005840" y="4434840"/>
            <a:ext cx="5303520" cy="365760"/>
          </a:xfrm>
          <a:prstGeom prst="rect">
            <a:avLst/>
          </a:prstGeom>
          <a:noFill/>
        </p:spPr>
        <p:txBody>
          <a:bodyPr wrap="square" anchor="t" lIns="0" rIns="0" tIns="0" bIns="0">
            <a:spAutoFit/>
          </a:bodyPr>
          <a:lstStyle/>
          <a:p>
            <a:pPr algn="l">
              <a:spcAft>
                <a:spcPts val="0"/>
              </a:spcAft>
            </a:pPr>
            <a:r>
              <a:rPr sz="1400" b="0" i="0">
                <a:solidFill>
                  <a:srgbClr val="1B2A2F"/>
                </a:solidFill>
              </a:rPr>
              <a:t>Onboard homestays and guides in two pilot districts</a:t>
            </a:r>
          </a:p>
        </p:txBody>
      </p:sp>
      <p:pic>
        <p:nvPicPr>
          <p:cNvPr id="18" name="Picture 17" descr="rocket-a.png"/>
          <p:cNvPicPr>
            <a:picLocks noChangeAspect="1"/>
          </p:cNvPicPr>
          <p:nvPr/>
        </p:nvPicPr>
        <p:blipFill>
          <a:blip r:embed="rId4"/>
          <a:stretch>
            <a:fillRect/>
          </a:stretch>
        </p:blipFill>
        <p:spPr>
          <a:xfrm>
            <a:off x="640080" y="4892040"/>
            <a:ext cx="237744" cy="237744"/>
          </a:xfrm>
          <a:prstGeom prst="rect">
            <a:avLst/>
          </a:prstGeom>
        </p:spPr>
      </p:pic>
      <p:sp>
        <p:nvSpPr>
          <p:cNvPr id="19" name="TextBox 18"/>
          <p:cNvSpPr txBox="1"/>
          <p:nvPr/>
        </p:nvSpPr>
        <p:spPr>
          <a:xfrm>
            <a:off x="1005840" y="4846320"/>
            <a:ext cx="5303520" cy="365760"/>
          </a:xfrm>
          <a:prstGeom prst="rect">
            <a:avLst/>
          </a:prstGeom>
          <a:noFill/>
        </p:spPr>
        <p:txBody>
          <a:bodyPr wrap="square" anchor="t" lIns="0" rIns="0" tIns="0" bIns="0">
            <a:spAutoFit/>
          </a:bodyPr>
          <a:lstStyle/>
          <a:p>
            <a:pPr algn="l">
              <a:spcAft>
                <a:spcPts val="0"/>
              </a:spcAft>
            </a:pPr>
            <a:r>
              <a:rPr sz="1400" b="0" i="0">
                <a:solidFill>
                  <a:srgbClr val="1B2A2F"/>
                </a:solidFill>
              </a:rPr>
              <a:t>Connect official Department statistics; offline mode for low network</a:t>
            </a:r>
          </a:p>
        </p:txBody>
      </p:sp>
      <p:sp>
        <p:nvSpPr>
          <p:cNvPr id="20" name="Rounded Rectangle 19"/>
          <p:cNvSpPr/>
          <p:nvPr/>
        </p:nvSpPr>
        <p:spPr>
          <a:xfrm>
            <a:off x="640080" y="5440680"/>
            <a:ext cx="5669280" cy="777240"/>
          </a:xfrm>
          <a:prstGeom prst="roundRect">
            <a:avLst>
              <a:gd name="adj" fmla="val 8000"/>
            </a:avLst>
          </a:prstGeom>
          <a:solidFill>
            <a:srgbClr val="0F5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440680"/>
            <a:ext cx="5303520" cy="777240"/>
          </a:xfrm>
          <a:prstGeom prst="rect">
            <a:avLst/>
          </a:prstGeom>
          <a:noFill/>
        </p:spPr>
        <p:txBody>
          <a:bodyPr wrap="square" anchor="ctr" lIns="0" rIns="0" tIns="0" bIns="0">
            <a:spAutoFit/>
          </a:bodyPr>
          <a:lstStyle/>
          <a:p>
            <a:pPr algn="l">
              <a:spcAft>
                <a:spcPts val="0"/>
              </a:spcAft>
            </a:pPr>
            <a:r>
              <a:rPr sz="1400" b="1" i="0">
                <a:solidFill>
                  <a:srgbClr val="FFFFFF"/>
                </a:solidFill>
              </a:rPr>
              <a:t>OneStop Manipur</a:t>
            </a:r>
            <a:r>
              <a:rPr sz="1400" b="0" i="0">
                <a:solidFill>
                  <a:srgbClr val="FFFFFF"/>
                </a:solidFill>
              </a:rPr>
              <a:t> — one stop for everyone in Manipur's tourism.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37</Words>
  <Application>Microsoft Office PowerPoint</Application>
  <PresentationFormat>Widescreen</PresentationFormat>
  <Paragraphs>9</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Problem Statement</vt:lpstr>
      <vt:lpstr>Propose Solution</vt:lpstr>
      <vt:lpstr>Technology &amp; Technical Approach</vt:lpstr>
      <vt:lpstr>Impact on Tourism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mtihub 03</dc:creator>
  <cp:lastModifiedBy>mtihub 03</cp:lastModifiedBy>
  <cp:revision>1</cp:revision>
  <dcterms:created xsi:type="dcterms:W3CDTF">2026-09-21T09:38:46Z</dcterms:created>
  <dcterms:modified xsi:type="dcterms:W3CDTF">2026-09-21T09:45:15Z</dcterms:modified>
</cp:coreProperties>
</file>